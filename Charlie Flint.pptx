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90" r:id="rId15"/>
    <p:sldId id="286"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493C2-F961-AE6C-C78A-A3E397BAC3D1}" v="77" dt="2026-01-24T07:12:45.064"/>
    <p1510:client id="{857E11F3-F11C-6843-C73E-27677A40A984}" v="240" dt="2026-01-24T07:27:37.62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2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9DA0503-E354-F8FB-A24F-BAC0F80D973B}"/>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1CBDE7-DCC5-9FB5-1FF5-0C2E8B3446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BD2BA6D9-8B79-8035-C936-B4A4590601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0737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080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docs.langflow.or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langchain.com/" TargetMode="External"/><Relationship Id="rId4" Type="http://schemas.openxmlformats.org/officeDocument/2006/relationships/hyperlink" Target="https://www.ibm.com/products/watsonx-ai"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009552" y="1121339"/>
            <a:ext cx="7957672" cy="39619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a:solidFill>
                  <a:srgbClr val="1F3864"/>
                </a:solidFill>
                <a:latin typeface="Times New Roman"/>
                <a:ea typeface="Times New Roman"/>
                <a:cs typeface="Times New Roman"/>
                <a:sym typeface="Times New Roman"/>
              </a:rPr>
              <a:t>CHARLIE  FLINT</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009552" y="1514817"/>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735471207"/>
              </p:ext>
            </p:extLst>
          </p:nvPr>
        </p:nvGraphicFramePr>
        <p:xfrm>
          <a:off x="705582" y="1942025"/>
          <a:ext cx="10674992" cy="3995625"/>
        </p:xfrm>
        <a:graphic>
          <a:graphicData uri="http://schemas.openxmlformats.org/drawingml/2006/table">
            <a:tbl>
              <a:tblPr>
                <a:noFill/>
                <a:tableStyleId>{0AAD8F4D-43EB-41E5-8A38-28AB6DFB1B60}</a:tableStyleId>
              </a:tblPr>
              <a:tblGrid>
                <a:gridCol w="3069262">
                  <a:extLst>
                    <a:ext uri="{9D8B030D-6E8A-4147-A177-3AD203B41FA5}">
                      <a16:colId xmlns:a16="http://schemas.microsoft.com/office/drawing/2014/main" val="20000"/>
                    </a:ext>
                  </a:extLst>
                </a:gridCol>
                <a:gridCol w="2627227">
                  <a:extLst>
                    <a:ext uri="{9D8B030D-6E8A-4147-A177-3AD203B41FA5}">
                      <a16:colId xmlns:a16="http://schemas.microsoft.com/office/drawing/2014/main" val="20002"/>
                    </a:ext>
                  </a:extLst>
                </a:gridCol>
                <a:gridCol w="2965232">
                  <a:extLst>
                    <a:ext uri="{9D8B030D-6E8A-4147-A177-3AD203B41FA5}">
                      <a16:colId xmlns:a16="http://schemas.microsoft.com/office/drawing/2014/main" val="20003"/>
                    </a:ext>
                  </a:extLst>
                </a:gridCol>
                <a:gridCol w="2013271">
                  <a:extLst>
                    <a:ext uri="{9D8B030D-6E8A-4147-A177-3AD203B41FA5}">
                      <a16:colId xmlns:a16="http://schemas.microsoft.com/office/drawing/2014/main" val="20004"/>
                    </a:ext>
                  </a:extLst>
                </a:gridCol>
              </a:tblGrid>
              <a:tr h="791500">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70950">
                <a:tc>
                  <a:txBody>
                    <a:bodyPr/>
                    <a:lstStyle/>
                    <a:p>
                      <a:pPr marL="0" marR="0" lvl="0" indent="0" algn="l" rtl="0">
                        <a:spcBef>
                          <a:spcPts val="0"/>
                        </a:spcBef>
                        <a:spcAft>
                          <a:spcPts val="0"/>
                        </a:spcAft>
                        <a:buNone/>
                      </a:pPr>
                      <a:r>
                        <a:rPr lang="en-US" dirty="0"/>
                        <a:t>BHASKAR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bhaskarsnaidu8776@gmail.com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9663949447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62225">
                <a:tc>
                  <a:txBody>
                    <a:bodyPr/>
                    <a:lstStyle/>
                    <a:p>
                      <a:pPr marL="0" marR="0" lvl="0" indent="0" algn="l" rtl="0">
                        <a:spcBef>
                          <a:spcPts val="0"/>
                        </a:spcBef>
                        <a:spcAft>
                          <a:spcPts val="0"/>
                        </a:spcAft>
                        <a:buNone/>
                      </a:pPr>
                      <a:r>
                        <a:rPr lang="en-US" dirty="0"/>
                        <a:t>G DAEWOO SRI PRASAD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dirty="0"/>
                        <a:t>daewoosriprasadg@gmail.com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dirty="0"/>
                        <a:t>9113589606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970950">
                <a:tc>
                  <a:txBody>
                    <a:bodyPr/>
                    <a:lstStyle/>
                    <a:p>
                      <a:pPr marL="0" marR="0" lvl="0" indent="0" algn="l" rtl="0">
                        <a:spcBef>
                          <a:spcPts val="0"/>
                        </a:spcBef>
                        <a:spcAft>
                          <a:spcPts val="0"/>
                        </a:spcAft>
                        <a:buNone/>
                      </a:pPr>
                      <a:endParaRPr sz="1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B29103ED-7F29-293A-C500-48BA68010CB7}"/>
              </a:ext>
            </a:extLst>
          </p:cNvPr>
          <p:cNvPicPr>
            <a:picLocks noChangeAspect="1"/>
          </p:cNvPicPr>
          <p:nvPr/>
        </p:nvPicPr>
        <p:blipFill>
          <a:blip r:embed="rId4"/>
          <a:stretch>
            <a:fillRect/>
          </a:stretch>
        </p:blipFill>
        <p:spPr>
          <a:xfrm>
            <a:off x="4778610" y="2777244"/>
            <a:ext cx="815915" cy="923678"/>
          </a:xfrm>
          <a:prstGeom prst="rect">
            <a:avLst/>
          </a:prstGeom>
        </p:spPr>
      </p:pic>
      <p:pic>
        <p:nvPicPr>
          <p:cNvPr id="7" name="Picture 6">
            <a:extLst>
              <a:ext uri="{FF2B5EF4-FFF2-40B4-BE49-F238E27FC236}">
                <a16:creationId xmlns:a16="http://schemas.microsoft.com/office/drawing/2014/main" id="{11C97A06-9B21-D2E9-4C23-BECDD140D33A}"/>
              </a:ext>
            </a:extLst>
          </p:cNvPr>
          <p:cNvPicPr>
            <a:picLocks noChangeAspect="1"/>
          </p:cNvPicPr>
          <p:nvPr/>
        </p:nvPicPr>
        <p:blipFill>
          <a:blip r:embed="rId5"/>
          <a:stretch>
            <a:fillRect/>
          </a:stretch>
        </p:blipFill>
        <p:spPr>
          <a:xfrm>
            <a:off x="4778610" y="3856404"/>
            <a:ext cx="815915" cy="10352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2" y="1188720"/>
            <a:ext cx="7616952" cy="1446550"/>
          </a:xfrm>
          <a:prstGeom prst="rect">
            <a:avLst/>
          </a:prstGeom>
          <a:noFill/>
        </p:spPr>
        <p:txBody>
          <a:bodyPr wrap="square" rtlCol="0">
            <a:spAutoFit/>
          </a:bodyPr>
          <a:lstStyle/>
          <a:p>
            <a:r>
              <a:rPr lang="en-US" sz="1600" b="1" dirty="0"/>
              <a:t>AI-Assisted Yield Trend Analysis and Farm Planning System </a:t>
            </a:r>
          </a:p>
          <a:p>
            <a:endParaRPr lang="en-US" sz="1600" b="1" dirty="0"/>
          </a:p>
          <a:p>
            <a:r>
              <a:rPr lang="en-US" dirty="0"/>
              <a:t>Understanding yield variability across seasons is essential for improving farm productivity. However, historical yield data combined with environmental and management factors is often underutilized due to analytical complexity. An intelligent AI system is required to analyze yield trends and identify contributing factors</a:t>
            </a:r>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622781" y="1645886"/>
            <a:ext cx="10268712" cy="1384995"/>
          </a:xfrm>
          <a:prstGeom prst="rect">
            <a:avLst/>
          </a:prstGeom>
          <a:noFill/>
        </p:spPr>
        <p:txBody>
          <a:bodyPr wrap="square" rtlCol="0">
            <a:spAutoFit/>
          </a:bodyPr>
          <a:lstStyle/>
          <a:p>
            <a:r>
              <a:rPr lang="en-US" dirty="0"/>
              <a:t>An </a:t>
            </a:r>
            <a:r>
              <a:rPr lang="en-US" b="1" dirty="0"/>
              <a:t>Agentic AI System</a:t>
            </a:r>
            <a:r>
              <a:rPr lang="en-US" dirty="0"/>
              <a:t> built using </a:t>
            </a:r>
            <a:r>
              <a:rPr lang="en-US" b="1" dirty="0" err="1"/>
              <a:t>Langflow</a:t>
            </a:r>
            <a:r>
              <a:rPr lang="en-US" b="1" dirty="0"/>
              <a:t> and IBM Granite</a:t>
            </a:r>
            <a:r>
              <a:rPr lang="en-US" dirty="0"/>
              <a:t> that:</a:t>
            </a:r>
          </a:p>
          <a:p>
            <a:br>
              <a:rPr lang="en-US" dirty="0"/>
            </a:br>
            <a:r>
              <a:rPr lang="en-US" dirty="0"/>
              <a:t>• Analyzes historical yield and farm data</a:t>
            </a:r>
            <a:br>
              <a:rPr lang="en-US" dirty="0"/>
            </a:br>
            <a:r>
              <a:rPr lang="en-US" dirty="0"/>
              <a:t>• Detects trends and correlations</a:t>
            </a:r>
            <a:br>
              <a:rPr lang="en-US" dirty="0"/>
            </a:br>
            <a:r>
              <a:rPr lang="en-US" dirty="0"/>
              <a:t>• Provides assistive farm planning insights</a:t>
            </a:r>
            <a:br>
              <a:rPr lang="en-US" dirty="0"/>
            </a:br>
            <a:r>
              <a:rPr lang="en-US" dirty="0"/>
              <a:t>• Uses RAG with agricultural research</a:t>
            </a:r>
            <a:endParaRPr lang="en-IN" dirty="0"/>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10268712" cy="1169551"/>
          </a:xfrm>
          <a:prstGeom prst="rect">
            <a:avLst/>
          </a:prstGeom>
          <a:noFill/>
        </p:spPr>
        <p:txBody>
          <a:bodyPr wrap="square" rtlCol="0">
            <a:spAutoFit/>
          </a:bodyPr>
          <a:lstStyle/>
          <a:p>
            <a:r>
              <a:rPr lang="en-US" dirty="0"/>
              <a:t>• To analyze historical crop yield data and identify important trends and patterns.</a:t>
            </a:r>
          </a:p>
          <a:p>
            <a:br>
              <a:rPr lang="en-US" dirty="0"/>
            </a:br>
            <a:r>
              <a:rPr lang="en-US" dirty="0"/>
              <a:t>• To support data-driven farm planning using AI instead of manual analysis.</a:t>
            </a:r>
          </a:p>
          <a:p>
            <a:br>
              <a:rPr lang="en-US" dirty="0"/>
            </a:br>
            <a:r>
              <a:rPr lang="en-US" dirty="0"/>
              <a:t>• To improve productivity and promote sustainable agricultural practices.</a:t>
            </a: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850364" cy="2031325"/>
          </a:xfrm>
          <a:prstGeom prst="rect">
            <a:avLst/>
          </a:prstGeom>
          <a:noFill/>
        </p:spPr>
        <p:txBody>
          <a:bodyPr wrap="square" rtlCol="0">
            <a:spAutoFit/>
          </a:bodyPr>
          <a:lstStyle/>
          <a:p>
            <a:r>
              <a:rPr lang="en-US" dirty="0"/>
              <a:t>• </a:t>
            </a:r>
            <a:r>
              <a:rPr lang="en-US" b="1" dirty="0"/>
              <a:t>Farmers</a:t>
            </a:r>
            <a:r>
              <a:rPr lang="en-US" dirty="0"/>
              <a:t> – To understand historical yield trends and make informed crop planning decisions.</a:t>
            </a:r>
          </a:p>
          <a:p>
            <a:endParaRPr lang="en-US" dirty="0"/>
          </a:p>
          <a:p>
            <a:r>
              <a:rPr lang="en-US" dirty="0"/>
              <a:t>• </a:t>
            </a:r>
            <a:r>
              <a:rPr lang="en-US" b="1" dirty="0"/>
              <a:t>Agricultural Planners &amp; Agronomists</a:t>
            </a:r>
            <a:r>
              <a:rPr lang="en-US" dirty="0"/>
              <a:t> – To analyze yield patterns and recommend better farming practices based on data insights.</a:t>
            </a:r>
          </a:p>
          <a:p>
            <a:endParaRPr lang="en-US" dirty="0"/>
          </a:p>
          <a:p>
            <a:r>
              <a:rPr lang="en-US" dirty="0"/>
              <a:t>• </a:t>
            </a:r>
            <a:r>
              <a:rPr lang="en-US" b="1" dirty="0"/>
              <a:t>Farm Management Organizations</a:t>
            </a:r>
            <a:r>
              <a:rPr lang="en-US" dirty="0"/>
              <a:t> – To optimize resource usage and improve long-term productivity.</a:t>
            </a:r>
          </a:p>
          <a:p>
            <a:endParaRPr lang="en-US" dirty="0"/>
          </a:p>
          <a:p>
            <a:r>
              <a:rPr lang="en-US" dirty="0"/>
              <a:t>• </a:t>
            </a:r>
            <a:r>
              <a:rPr lang="en-US" b="1" dirty="0"/>
              <a:t>Government &amp; Agricultural Departments</a:t>
            </a:r>
            <a:r>
              <a:rPr lang="en-US" dirty="0"/>
              <a:t> – To support policy planning, crop forecasting, and food security initiatives.</a:t>
            </a:r>
          </a:p>
          <a:p>
            <a:endParaRPr lang="en-US" dirty="0"/>
          </a:p>
          <a:p>
            <a:r>
              <a:rPr lang="en-US" dirty="0"/>
              <a:t>• </a:t>
            </a:r>
            <a:r>
              <a:rPr lang="en-US" b="1" dirty="0"/>
              <a:t>Research Institutions</a:t>
            </a:r>
            <a:r>
              <a:rPr lang="en-US" dirty="0"/>
              <a:t> – To study yield variability and evaluate the impact of environmental and management factors.</a:t>
            </a:r>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228600" y="315038"/>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228600" y="1207008"/>
            <a:ext cx="11064240" cy="4124206"/>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Langflow</a:t>
            </a:r>
            <a:r>
              <a:rPr lang="en-US" sz="1800" dirty="0"/>
              <a:t> component name – Chat Input, IBM </a:t>
            </a:r>
            <a:r>
              <a:rPr lang="en-US" sz="1800" dirty="0" err="1"/>
              <a:t>Watsonx</a:t>
            </a:r>
            <a:r>
              <a:rPr lang="en-US" sz="1800" dirty="0"/>
              <a:t>  AI Agent, Chat Output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a:t>
            </a:r>
            <a:r>
              <a:rPr lang="en-US" sz="1800" dirty="0" err="1"/>
              <a:t>Grainte</a:t>
            </a:r>
            <a:r>
              <a:rPr lang="en-US" sz="1800" dirty="0"/>
              <a:t> model -  for </a:t>
            </a:r>
            <a:r>
              <a:rPr lang="en-US" sz="1800" dirty="0" err="1"/>
              <a:t>eg</a:t>
            </a:r>
            <a:r>
              <a:rPr lang="en-US" sz="1800" dirty="0"/>
              <a:t> – ibm-granite-3-2-8b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Watsonx</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t>• Uses </a:t>
            </a:r>
            <a:r>
              <a:rPr lang="en-US" sz="2000" b="1" dirty="0"/>
              <a:t>AI agents</a:t>
            </a:r>
            <a:r>
              <a:rPr lang="en-US" sz="2000" dirty="0"/>
              <a:t> to analyze crop yield data instead of manual methods.</a:t>
            </a:r>
            <a:br>
              <a:rPr lang="en-US" sz="2000" dirty="0"/>
            </a:br>
            <a:r>
              <a:rPr lang="en-US" sz="2000" dirty="0"/>
              <a:t>• Combines </a:t>
            </a:r>
            <a:r>
              <a:rPr lang="en-US" sz="2000" b="1" dirty="0"/>
              <a:t>historical yield, weather, and soil data</a:t>
            </a:r>
            <a:r>
              <a:rPr lang="en-US" sz="2000" dirty="0"/>
              <a:t> for better insights.</a:t>
            </a:r>
            <a:br>
              <a:rPr lang="en-US" sz="2000" dirty="0"/>
            </a:br>
            <a:r>
              <a:rPr lang="en-US" sz="2000" dirty="0"/>
              <a:t>• Provides </a:t>
            </a:r>
            <a:r>
              <a:rPr lang="en-US" sz="2000" b="1" dirty="0"/>
              <a:t>simple, explainable planning suggestions</a:t>
            </a:r>
            <a:r>
              <a:rPr lang="en-US" sz="2000" dirty="0"/>
              <a:t> using IBM Granite.</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9EA322CA-9F11-93A7-7068-505CE4F7A2D4}"/>
              </a:ext>
            </a:extLst>
          </p:cNvPr>
          <p:cNvPicPr>
            <a:picLocks noChangeAspect="1"/>
          </p:cNvPicPr>
          <p:nvPr/>
        </p:nvPicPr>
        <p:blipFill>
          <a:blip r:embed="rId4"/>
          <a:stretch>
            <a:fillRect/>
          </a:stretch>
        </p:blipFill>
        <p:spPr>
          <a:xfrm>
            <a:off x="2222156" y="1012898"/>
            <a:ext cx="6858000" cy="51156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1389888"/>
            <a:ext cx="10199204" cy="2893100"/>
          </a:xfrm>
          <a:prstGeom prst="rect">
            <a:avLst/>
          </a:prstGeom>
          <a:noFill/>
        </p:spPr>
        <p:txBody>
          <a:bodyPr wrap="square" rtlCol="0">
            <a:spAutoFit/>
          </a:bodyPr>
          <a:lstStyle/>
          <a:p>
            <a:r>
              <a:rPr lang="en-US" dirty="0"/>
              <a:t>• </a:t>
            </a:r>
            <a:r>
              <a:rPr lang="en-US" b="1" dirty="0"/>
              <a:t>Chat Input</a:t>
            </a:r>
            <a:r>
              <a:rPr lang="en-US" dirty="0"/>
              <a:t> : Collects crop, yield, weather, and soil details from the user..</a:t>
            </a:r>
          </a:p>
          <a:p>
            <a:endParaRPr lang="en-US" dirty="0"/>
          </a:p>
          <a:p>
            <a:r>
              <a:rPr lang="en-US" dirty="0"/>
              <a:t>• </a:t>
            </a:r>
            <a:r>
              <a:rPr lang="en-US" b="1" dirty="0"/>
              <a:t>IBM </a:t>
            </a:r>
            <a:r>
              <a:rPr lang="en-US" b="1" dirty="0" err="1"/>
              <a:t>Watsonx</a:t>
            </a:r>
            <a:r>
              <a:rPr lang="en-US" b="1" dirty="0"/>
              <a:t> AI Agent (Granite Model)</a:t>
            </a:r>
            <a:r>
              <a:rPr lang="en-US" dirty="0"/>
              <a:t>: Analyzes data, detects trends, and generates planning insights.</a:t>
            </a:r>
          </a:p>
          <a:p>
            <a:endParaRPr lang="en-US" dirty="0"/>
          </a:p>
          <a:p>
            <a:r>
              <a:rPr lang="en-US" dirty="0"/>
              <a:t>• </a:t>
            </a:r>
            <a:r>
              <a:rPr lang="en-US" b="1" dirty="0"/>
              <a:t>Chat Output: </a:t>
            </a:r>
            <a:r>
              <a:rPr lang="en-US" dirty="0"/>
              <a:t>Displays yield trends, correlations, and farm planning suggestions.</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828775DD-9575-9648-E57F-EF6C3B1E6E75}"/>
              </a:ext>
            </a:extLst>
          </p:cNvPr>
          <p:cNvPicPr>
            <a:picLocks noChangeAspect="1"/>
          </p:cNvPicPr>
          <p:nvPr/>
        </p:nvPicPr>
        <p:blipFill>
          <a:blip r:embed="rId4"/>
          <a:stretch>
            <a:fillRect/>
          </a:stretch>
        </p:blipFill>
        <p:spPr>
          <a:xfrm>
            <a:off x="951782" y="864974"/>
            <a:ext cx="10288436" cy="516512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95685E7B-50BE-D647-34D0-D7B116DA8EFC}"/>
              </a:ext>
            </a:extLst>
          </p:cNvPr>
          <p:cNvPicPr>
            <a:picLocks noChangeAspect="1"/>
          </p:cNvPicPr>
          <p:nvPr/>
        </p:nvPicPr>
        <p:blipFill>
          <a:blip r:embed="rId4"/>
          <a:stretch>
            <a:fillRect/>
          </a:stretch>
        </p:blipFill>
        <p:spPr>
          <a:xfrm>
            <a:off x="2280705" y="2552577"/>
            <a:ext cx="7630590" cy="1752845"/>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5D1BACB-76F9-35FF-8B45-02FE2658464F}"/>
              </a:ext>
            </a:extLst>
          </p:cNvPr>
          <p:cNvPicPr>
            <a:picLocks noChangeAspect="1"/>
          </p:cNvPicPr>
          <p:nvPr/>
        </p:nvPicPr>
        <p:blipFill>
          <a:blip r:embed="rId4"/>
          <a:stretch>
            <a:fillRect/>
          </a:stretch>
        </p:blipFill>
        <p:spPr>
          <a:xfrm>
            <a:off x="0" y="582827"/>
            <a:ext cx="12192000" cy="5692346"/>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264DB916-9D11-8CF6-1773-B8BB5C957B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5E873E-21D6-4A99-47BD-F28FC42E2047}"/>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2</a:t>
            </a:r>
            <a:endParaRPr lang="en-US" dirty="0"/>
          </a:p>
        </p:txBody>
      </p:sp>
      <p:pic>
        <p:nvPicPr>
          <p:cNvPr id="5" name="Picture 4">
            <a:extLst>
              <a:ext uri="{FF2B5EF4-FFF2-40B4-BE49-F238E27FC236}">
                <a16:creationId xmlns:a16="http://schemas.microsoft.com/office/drawing/2014/main" id="{62A2C8BC-759C-7366-3206-89BFCE1B221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80390736-95F9-D501-CBA5-142464C491B7}"/>
              </a:ext>
            </a:extLst>
          </p:cNvPr>
          <p:cNvPicPr>
            <a:picLocks noChangeAspect="1"/>
          </p:cNvPicPr>
          <p:nvPr/>
        </p:nvPicPr>
        <p:blipFill>
          <a:blip r:embed="rId4"/>
          <a:stretch>
            <a:fillRect/>
          </a:stretch>
        </p:blipFill>
        <p:spPr>
          <a:xfrm>
            <a:off x="335796" y="692510"/>
            <a:ext cx="11885035" cy="5337587"/>
          </a:xfrm>
          <a:prstGeom prst="rect">
            <a:avLst/>
          </a:prstGeom>
        </p:spPr>
      </p:pic>
    </p:spTree>
    <p:extLst>
      <p:ext uri="{BB962C8B-B14F-4D97-AF65-F5344CB8AC3E}">
        <p14:creationId xmlns:p14="http://schemas.microsoft.com/office/powerpoint/2010/main" val="943524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1219779" y="20073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3</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73BEC830-CA29-5865-86BD-1020F102CBE2}"/>
              </a:ext>
            </a:extLst>
          </p:cNvPr>
          <p:cNvPicPr>
            <a:picLocks noChangeAspect="1"/>
          </p:cNvPicPr>
          <p:nvPr/>
        </p:nvPicPr>
        <p:blipFill>
          <a:blip r:embed="rId4"/>
          <a:stretch>
            <a:fillRect/>
          </a:stretch>
        </p:blipFill>
        <p:spPr>
          <a:xfrm>
            <a:off x="335797" y="662404"/>
            <a:ext cx="11221103" cy="5417355"/>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77260" y="1507275"/>
            <a:ext cx="10637480" cy="4277001"/>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US" sz="2000" dirty="0"/>
              <a:t>Enhancement of the AI system with </a:t>
            </a:r>
            <a:r>
              <a:rPr lang="en-US" sz="2000" b="1" dirty="0"/>
              <a:t>predictive analytics and machine learning models</a:t>
            </a:r>
            <a:r>
              <a:rPr lang="en-US" sz="2000" dirty="0"/>
              <a:t> for long-term farm planning and productivity improvement.</a:t>
            </a:r>
          </a:p>
          <a:p>
            <a:pPr marL="342900" lvl="0" indent="-342900">
              <a:lnSpc>
                <a:spcPct val="162162"/>
              </a:lnSpc>
              <a:buClr>
                <a:srgbClr val="2B3541"/>
              </a:buClr>
              <a:buSzPts val="1850"/>
              <a:buFont typeface="Arial" panose="020B0604020202020204" pitchFamily="34" charset="0"/>
              <a:buChar char="•"/>
            </a:pPr>
            <a:endParaRPr lang="en-US" sz="2000" dirty="0"/>
          </a:p>
          <a:p>
            <a:pPr marL="342900" lvl="0" indent="-342900">
              <a:lnSpc>
                <a:spcPct val="162162"/>
              </a:lnSpc>
              <a:buClr>
                <a:srgbClr val="2B3541"/>
              </a:buClr>
              <a:buSzPts val="1850"/>
              <a:buFont typeface="Arial" panose="020B0604020202020204" pitchFamily="34" charset="0"/>
              <a:buChar char="•"/>
            </a:pPr>
            <a:r>
              <a:rPr lang="en-US" sz="2000" dirty="0"/>
              <a:t>Expansion of the system to support </a:t>
            </a:r>
            <a:r>
              <a:rPr lang="en-US" sz="2000" b="1" dirty="0"/>
              <a:t>large-scale agricultural planning</a:t>
            </a:r>
            <a:r>
              <a:rPr lang="en-US" sz="2000" dirty="0"/>
              <a:t> for organizations and government bodies.</a:t>
            </a:r>
          </a:p>
          <a:p>
            <a:pPr marL="342900" lvl="0" indent="-342900">
              <a:lnSpc>
                <a:spcPct val="162162"/>
              </a:lnSpc>
              <a:buClr>
                <a:srgbClr val="2B3541"/>
              </a:buClr>
              <a:buSzPts val="1850"/>
              <a:buFont typeface="Arial" panose="020B0604020202020204" pitchFamily="34" charset="0"/>
              <a:buChar char="•"/>
            </a:pPr>
            <a:endParaRPr lang="en-US" sz="2000" dirty="0"/>
          </a:p>
          <a:p>
            <a:pPr marL="342900" lvl="0" indent="-342900">
              <a:lnSpc>
                <a:spcPct val="162162"/>
              </a:lnSpc>
              <a:buClr>
                <a:srgbClr val="2B3541"/>
              </a:buClr>
              <a:buSzPts val="1850"/>
              <a:buFont typeface="Arial" panose="020B0604020202020204" pitchFamily="34" charset="0"/>
              <a:buChar char="•"/>
            </a:pPr>
            <a:r>
              <a:rPr lang="en-US" sz="2000" dirty="0"/>
              <a:t>Integration of </a:t>
            </a:r>
            <a:r>
              <a:rPr lang="en-US" sz="2000" b="1" dirty="0"/>
              <a:t>IoT sensors</a:t>
            </a:r>
            <a:r>
              <a:rPr lang="en-US" sz="2000" dirty="0"/>
              <a:t> to automatically collect real-time soil moisture, temperature, and weather data from farms.</a:t>
            </a:r>
            <a:br>
              <a:rPr lang="en-US" sz="2000" dirty="0"/>
            </a:br>
            <a:r>
              <a:rPr lang="en-US" sz="2000" dirty="0"/>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app.py file , 2) your_hackthon_problemstatement.pdf file  3) your projectpresntation.pptx file </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119870" y="233954"/>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335797" y="1188861"/>
            <a:ext cx="11637899" cy="4549653"/>
          </a:xfrm>
          <a:prstGeom prst="rect">
            <a:avLst/>
          </a:prstGeom>
          <a:noFill/>
          <a:ln>
            <a:noFill/>
          </a:ln>
        </p:spPr>
        <p:txBody>
          <a:bodyPr spcFirstLastPara="1" wrap="square" lIns="0" tIns="0" rIns="0" bIns="0" anchor="t" anchorCtr="0">
            <a:noAutofit/>
          </a:bodyPr>
          <a:lstStyle/>
          <a:p>
            <a:r>
              <a:rPr lang="en-US" sz="2000" b="1" dirty="0" err="1"/>
              <a:t>Langflow</a:t>
            </a:r>
            <a:r>
              <a:rPr lang="en-US" sz="2000" b="1" dirty="0"/>
              <a:t> Documentation</a:t>
            </a:r>
            <a:br>
              <a:rPr lang="en-US" sz="2000" dirty="0"/>
            </a:br>
            <a:r>
              <a:rPr lang="en-US" sz="2000" dirty="0" err="1"/>
              <a:t>Langflow</a:t>
            </a:r>
            <a:r>
              <a:rPr lang="en-US" sz="2000" dirty="0"/>
              <a:t> Contributors. </a:t>
            </a:r>
            <a:r>
              <a:rPr lang="en-US" sz="2000" i="1" dirty="0" err="1"/>
              <a:t>Langflow</a:t>
            </a:r>
            <a:r>
              <a:rPr lang="en-US" sz="2000" i="1" dirty="0"/>
              <a:t>: A Visual Framework for Building LLM Applications</a:t>
            </a:r>
            <a:r>
              <a:rPr lang="en-US" sz="2000" dirty="0"/>
              <a:t>.</a:t>
            </a:r>
            <a:br>
              <a:rPr lang="en-US" sz="2000" dirty="0"/>
            </a:br>
            <a:r>
              <a:rPr lang="en-US" sz="2000" dirty="0">
                <a:hlinkClick r:id="rId3"/>
              </a:rPr>
              <a:t>https://docs.langflow.org/</a:t>
            </a:r>
            <a:endParaRPr lang="en-US" sz="2000" dirty="0"/>
          </a:p>
          <a:p>
            <a:endParaRPr lang="en-US" sz="2000" dirty="0"/>
          </a:p>
          <a:p>
            <a:r>
              <a:rPr lang="en-US" sz="2000" b="1" dirty="0"/>
              <a:t>IBM watsonx.ai Foundation Models</a:t>
            </a:r>
            <a:br>
              <a:rPr lang="en-US" sz="2000" dirty="0"/>
            </a:br>
            <a:r>
              <a:rPr lang="en-US" sz="2000" dirty="0"/>
              <a:t>IBM. </a:t>
            </a:r>
            <a:r>
              <a:rPr lang="en-US" sz="2000" i="1" dirty="0"/>
              <a:t>watsonx.ai: Enterprise AI and Foundation Models</a:t>
            </a:r>
            <a:r>
              <a:rPr lang="en-US" sz="2000" dirty="0"/>
              <a:t>.</a:t>
            </a:r>
            <a:br>
              <a:rPr lang="en-US" sz="2000" dirty="0"/>
            </a:br>
            <a:r>
              <a:rPr lang="en-US" sz="2000" dirty="0">
                <a:hlinkClick r:id="rId4"/>
              </a:rPr>
              <a:t>https://www.ibm.com/products/watsonx-ai</a:t>
            </a:r>
            <a:endParaRPr lang="en-US" sz="2000" dirty="0"/>
          </a:p>
          <a:p>
            <a:endParaRPr lang="en-US" sz="2000" dirty="0"/>
          </a:p>
          <a:p>
            <a:r>
              <a:rPr lang="en-US" sz="2000" b="1" dirty="0" err="1"/>
              <a:t>LangChain</a:t>
            </a:r>
            <a:r>
              <a:rPr lang="en-US" sz="2000" b="1" dirty="0"/>
              <a:t> Framework</a:t>
            </a:r>
            <a:br>
              <a:rPr lang="en-US" sz="2000" dirty="0"/>
            </a:br>
            <a:r>
              <a:rPr lang="en-US" sz="2000" dirty="0" err="1"/>
              <a:t>LangChain</a:t>
            </a:r>
            <a:r>
              <a:rPr lang="en-US" sz="2000" dirty="0"/>
              <a:t>. </a:t>
            </a:r>
            <a:r>
              <a:rPr lang="en-US" sz="2000" i="1" dirty="0" err="1"/>
              <a:t>LangChain</a:t>
            </a:r>
            <a:r>
              <a:rPr lang="en-US" sz="2000" i="1" dirty="0"/>
              <a:t>: Building Applications with LLMs</a:t>
            </a:r>
            <a:r>
              <a:rPr lang="en-US" sz="2000" dirty="0"/>
              <a:t>.</a:t>
            </a:r>
            <a:br>
              <a:rPr lang="en-US" sz="2000" dirty="0"/>
            </a:br>
            <a:r>
              <a:rPr lang="en-US" sz="2000" dirty="0">
                <a:hlinkClick r:id="rId5"/>
              </a:rPr>
              <a:t>https://www.langchain.com/</a:t>
            </a:r>
            <a:endParaRPr lang="en-US" sz="2000" dirty="0"/>
          </a:p>
        </p:txBody>
      </p:sp>
      <p:sp>
        <p:nvSpPr>
          <p:cNvPr id="280" name="Google Shape;280;p18">
            <a:extLst>
              <a:ext uri="{FF2B5EF4-FFF2-40B4-BE49-F238E27FC236}">
                <a16:creationId xmlns:a16="http://schemas.microsoft.com/office/drawing/2014/main"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6"/>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1474</TotalTime>
  <Words>651</Words>
  <Application>Microsoft Office PowerPoint</Application>
  <PresentationFormat>Widescreen</PresentationFormat>
  <Paragraphs>99</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DAEWOO SRI PRASAD G</cp:lastModifiedBy>
  <cp:revision>118</cp:revision>
  <dcterms:created xsi:type="dcterms:W3CDTF">2025-07-08T05:06:56Z</dcterms:created>
  <dcterms:modified xsi:type="dcterms:W3CDTF">2026-02-02T07:05:37Z</dcterms:modified>
</cp:coreProperties>
</file>