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1"/>
  </p:notesMasterIdLst>
  <p:sldIdLst>
    <p:sldId id="283" r:id="rId2"/>
    <p:sldId id="257" r:id="rId3"/>
    <p:sldId id="282" r:id="rId4"/>
    <p:sldId id="259" r:id="rId5"/>
    <p:sldId id="287" r:id="rId6"/>
    <p:sldId id="288" r:id="rId7"/>
    <p:sldId id="278" r:id="rId8"/>
    <p:sldId id="273" r:id="rId9"/>
    <p:sldId id="262" r:id="rId10"/>
    <p:sldId id="281" r:id="rId11"/>
    <p:sldId id="279" r:id="rId12"/>
    <p:sldId id="284" r:id="rId13"/>
    <p:sldId id="285" r:id="rId14"/>
    <p:sldId id="290" r:id="rId15"/>
    <p:sldId id="286" r:id="rId16"/>
    <p:sldId id="280" r:id="rId17"/>
    <p:sldId id="277" r:id="rId18"/>
    <p:sldId id="289" r:id="rId19"/>
    <p:sldId id="276" r:id="rId20"/>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86"/>
  </p:normalViewPr>
  <p:slideViewPr>
    <p:cSldViewPr snapToGrid="0">
      <p:cViewPr varScale="1">
        <p:scale>
          <a:sx n="78" d="100"/>
          <a:sy n="78" d="100"/>
        </p:scale>
        <p:origin x="216"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1" name="Google Shape;111;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a:extLst>
            <a:ext uri="{FF2B5EF4-FFF2-40B4-BE49-F238E27FC236}">
              <a16:creationId xmlns:a16="http://schemas.microsoft.com/office/drawing/2014/main" id="{7EF10545-1A46-607A-9459-61E8362FA69E}"/>
            </a:ext>
          </a:extLst>
        </p:cNvPr>
        <p:cNvGrpSpPr/>
        <p:nvPr/>
      </p:nvGrpSpPr>
      <p:grpSpPr>
        <a:xfrm>
          <a:off x="0" y="0"/>
          <a:ext cx="0" cy="0"/>
          <a:chOff x="0" y="0"/>
          <a:chExt cx="0" cy="0"/>
        </a:xfrm>
      </p:grpSpPr>
      <p:sp>
        <p:nvSpPr>
          <p:cNvPr id="110" name="Google Shape;110;p4:notes">
            <a:extLst>
              <a:ext uri="{FF2B5EF4-FFF2-40B4-BE49-F238E27FC236}">
                <a16:creationId xmlns:a16="http://schemas.microsoft.com/office/drawing/2014/main" id="{5957A8EB-ADFD-B035-BD54-1E8A3CB366A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1" name="Google Shape;111;p4:notes">
            <a:extLst>
              <a:ext uri="{FF2B5EF4-FFF2-40B4-BE49-F238E27FC236}">
                <a16:creationId xmlns:a16="http://schemas.microsoft.com/office/drawing/2014/main" id="{A20716EB-D155-31F5-DA5A-E1CD60F5E9F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355386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a:extLst>
            <a:ext uri="{FF2B5EF4-FFF2-40B4-BE49-F238E27FC236}">
              <a16:creationId xmlns:a16="http://schemas.microsoft.com/office/drawing/2014/main" id="{F166C2B5-4668-A97F-2B37-43C42F227237}"/>
            </a:ext>
          </a:extLst>
        </p:cNvPr>
        <p:cNvGrpSpPr/>
        <p:nvPr/>
      </p:nvGrpSpPr>
      <p:grpSpPr>
        <a:xfrm>
          <a:off x="0" y="0"/>
          <a:ext cx="0" cy="0"/>
          <a:chOff x="0" y="0"/>
          <a:chExt cx="0" cy="0"/>
        </a:xfrm>
      </p:grpSpPr>
      <p:sp>
        <p:nvSpPr>
          <p:cNvPr id="110" name="Google Shape;110;p4:notes">
            <a:extLst>
              <a:ext uri="{FF2B5EF4-FFF2-40B4-BE49-F238E27FC236}">
                <a16:creationId xmlns:a16="http://schemas.microsoft.com/office/drawing/2014/main" id="{1DCE13D3-CED5-0A42-C57E-C51AFD2A625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1" name="Google Shape;111;p4:notes">
            <a:extLst>
              <a:ext uri="{FF2B5EF4-FFF2-40B4-BE49-F238E27FC236}">
                <a16:creationId xmlns:a16="http://schemas.microsoft.com/office/drawing/2014/main" id="{A05A17E4-5523-52B1-27CC-3C348561855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644045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133DCD37-0C3F-12BB-708C-15A0BFB72AB6}"/>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B3D30803-6188-6E87-DDB6-6562A9E1791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DC8AB23-C1B1-CB09-E0BB-C9AAC48979C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2522470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A63A9C66-2952-903D-83F1-D9F7981B25E5}"/>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DC0C7460-0316-B69D-13B6-FF07EC57B30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0173EAB6-F44B-63ED-F869-2979BED7C5D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7131364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99DA0503-E354-F8FB-A24F-BAC0F80D973B}"/>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1CBDE7-DCC5-9FB5-1FF5-0C2E8B34461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BD2BA6D9-8B79-8035-C936-B4A45906010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2073797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6D9BD954-16FD-FB57-C6A4-EB5D3F15F6B4}"/>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0F3489E1-7724-611B-4E81-BEA0792A2AD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D0D8B4C3-8B92-E26F-E1AC-2161B8338F1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1308055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517532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35F81AA1-D470-94B2-DBAC-B3997B8AE727}"/>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BF3C5CFF-BD30-3A5C-BD37-8285A5CF242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D3D9FE95-01C0-4EF5-0973-1DCBDDB3C7B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4250960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jpeg"/><Relationship Id="rId4" Type="http://schemas.openxmlformats.org/officeDocument/2006/relationships/image" Target="../media/image2.jpe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4.jpe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hyperlink" Target="https://github.com/bhaskars-17/charlie-flint.git" TargetMode="External"/><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18.xml.rels><?xml version="1.0" encoding="UTF-8" standalone="yes"?>
<Relationships xmlns="http://schemas.openxmlformats.org/package/2006/relationships"><Relationship Id="rId3" Type="http://schemas.openxmlformats.org/officeDocument/2006/relationships/hyperlink" Target="https://docs.langflow.org/" TargetMode="External"/><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hyperlink" Target="https://www.langchain.com/" TargetMode="External"/><Relationship Id="rId4" Type="http://schemas.openxmlformats.org/officeDocument/2006/relationships/hyperlink" Target="https://www.ibm.com/products/watsonx-ai" TargetMode="External"/></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a:xfrm>
            <a:off x="831850" y="581583"/>
            <a:ext cx="10515600" cy="2852737"/>
          </a:xfrm>
        </p:spPr>
        <p:txBody>
          <a:bodyPr>
            <a:normAutofit/>
          </a:bodyPr>
          <a:lstStyle/>
          <a:p>
            <a:pPr algn="ctr"/>
            <a:r>
              <a:rPr lang="en-US" dirty="0"/>
              <a:t>Agentic AI Hackathon: Building Intelligent Agents with IBM Granite and </a:t>
            </a:r>
            <a:r>
              <a:rPr lang="en-US" dirty="0" err="1"/>
              <a:t>LangFlow</a:t>
            </a:r>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endParaRPr lang="en-US" b="1" i="1" dirty="0"/>
          </a:p>
        </p:txBody>
      </p:sp>
      <p:pic>
        <p:nvPicPr>
          <p:cNvPr id="4" name="Picture 3">
            <a:extLst>
              <a:ext uri="{FF2B5EF4-FFF2-40B4-BE49-F238E27FC236}">
                <a16:creationId xmlns:a16="http://schemas.microsoft.com/office/drawing/2014/main" id="{9270813B-BF9E-B61A-92D0-FA37C990652F}"/>
              </a:ext>
            </a:extLst>
          </p:cNvPr>
          <p:cNvPicPr>
            <a:picLocks noChangeAspect="1"/>
          </p:cNvPicPr>
          <p:nvPr/>
        </p:nvPicPr>
        <p:blipFill>
          <a:blip r:embed="rId2"/>
          <a:stretch>
            <a:fillRect/>
          </a:stretch>
        </p:blipFill>
        <p:spPr>
          <a:xfrm>
            <a:off x="335797" y="6315517"/>
            <a:ext cx="11520407" cy="310052"/>
          </a:xfrm>
          <a:prstGeom prst="rect">
            <a:avLst/>
          </a:prstGeom>
        </p:spPr>
      </p:pic>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4" name="Google Shape;94;p2"/>
          <p:cNvSpPr txBox="1"/>
          <p:nvPr/>
        </p:nvSpPr>
        <p:spPr>
          <a:xfrm>
            <a:off x="2009552" y="1121339"/>
            <a:ext cx="7957672" cy="396196"/>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500"/>
              <a:buFont typeface="Times New Roman"/>
              <a:buNone/>
            </a:pPr>
            <a:r>
              <a:rPr lang="en-US" sz="3500" b="1" i="0" u="none" strike="noStrike" cap="none" dirty="0">
                <a:solidFill>
                  <a:srgbClr val="002060"/>
                </a:solidFill>
                <a:latin typeface="Times New Roman"/>
                <a:ea typeface="Times New Roman"/>
                <a:cs typeface="Times New Roman"/>
                <a:sym typeface="Times New Roman"/>
              </a:rPr>
              <a:t>Name of the team:  </a:t>
            </a:r>
            <a:r>
              <a:rPr lang="en-US" sz="3500" b="1" dirty="0">
                <a:solidFill>
                  <a:srgbClr val="1F3864"/>
                </a:solidFill>
                <a:latin typeface="Times New Roman"/>
                <a:ea typeface="Times New Roman"/>
                <a:cs typeface="Times New Roman"/>
                <a:sym typeface="Times New Roman"/>
              </a:rPr>
              <a:t>CHARLIE  FLINT</a:t>
            </a:r>
            <a:r>
              <a:rPr lang="en-US" sz="3500" b="1" i="0" u="none" strike="noStrike" cap="none" dirty="0">
                <a:solidFill>
                  <a:srgbClr val="C00000"/>
                </a:solidFill>
                <a:latin typeface="Times New Roman"/>
                <a:ea typeface="Times New Roman"/>
                <a:cs typeface="Times New Roman"/>
                <a:sym typeface="Times New Roman"/>
              </a:rPr>
              <a:t> </a:t>
            </a:r>
            <a:r>
              <a:rPr lang="en-US" sz="3500" b="1" i="0" u="none" strike="noStrike" cap="none" dirty="0">
                <a:solidFill>
                  <a:srgbClr val="002060"/>
                </a:solidFill>
                <a:latin typeface="Times New Roman"/>
                <a:ea typeface="Times New Roman"/>
                <a:cs typeface="Times New Roman"/>
                <a:sym typeface="Times New Roman"/>
              </a:rPr>
              <a:t> </a:t>
            </a:r>
            <a:endParaRPr dirty="0"/>
          </a:p>
        </p:txBody>
      </p:sp>
      <p:sp>
        <p:nvSpPr>
          <p:cNvPr id="95" name="Google Shape;95;p2"/>
          <p:cNvSpPr txBox="1"/>
          <p:nvPr/>
        </p:nvSpPr>
        <p:spPr>
          <a:xfrm>
            <a:off x="2009552" y="1514817"/>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r>
              <a:rPr lang="en-US" sz="3200" b="1" i="0" u="none" strike="noStrike" cap="none" dirty="0">
                <a:solidFill>
                  <a:srgbClr val="002060"/>
                </a:solidFill>
                <a:latin typeface="Times New Roman"/>
                <a:ea typeface="Times New Roman"/>
                <a:cs typeface="Times New Roman"/>
                <a:sym typeface="Times New Roman"/>
              </a:rPr>
              <a:t>Details of Team members</a:t>
            </a:r>
            <a:endParaRPr sz="3200" b="1" i="0" u="none" strike="noStrike" cap="none" dirty="0">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1735471207"/>
              </p:ext>
            </p:extLst>
          </p:nvPr>
        </p:nvGraphicFramePr>
        <p:xfrm>
          <a:off x="705582" y="1942025"/>
          <a:ext cx="10674992" cy="3995625"/>
        </p:xfrm>
        <a:graphic>
          <a:graphicData uri="http://schemas.openxmlformats.org/drawingml/2006/table">
            <a:tbl>
              <a:tblPr>
                <a:noFill/>
                <a:tableStyleId>{0AAD8F4D-43EB-41E5-8A38-28AB6DFB1B60}</a:tableStyleId>
              </a:tblPr>
              <a:tblGrid>
                <a:gridCol w="3069262">
                  <a:extLst>
                    <a:ext uri="{9D8B030D-6E8A-4147-A177-3AD203B41FA5}">
                      <a16:colId xmlns:a16="http://schemas.microsoft.com/office/drawing/2014/main" val="20000"/>
                    </a:ext>
                  </a:extLst>
                </a:gridCol>
                <a:gridCol w="2627227">
                  <a:extLst>
                    <a:ext uri="{9D8B030D-6E8A-4147-A177-3AD203B41FA5}">
                      <a16:colId xmlns:a16="http://schemas.microsoft.com/office/drawing/2014/main" val="20002"/>
                    </a:ext>
                  </a:extLst>
                </a:gridCol>
                <a:gridCol w="2965232">
                  <a:extLst>
                    <a:ext uri="{9D8B030D-6E8A-4147-A177-3AD203B41FA5}">
                      <a16:colId xmlns:a16="http://schemas.microsoft.com/office/drawing/2014/main" val="20003"/>
                    </a:ext>
                  </a:extLst>
                </a:gridCol>
                <a:gridCol w="2013271">
                  <a:extLst>
                    <a:ext uri="{9D8B030D-6E8A-4147-A177-3AD203B41FA5}">
                      <a16:colId xmlns:a16="http://schemas.microsoft.com/office/drawing/2014/main" val="20004"/>
                    </a:ext>
                  </a:extLst>
                </a:gridCol>
              </a:tblGrid>
              <a:tr h="791500">
                <a:tc>
                  <a:txBody>
                    <a:bodyPr/>
                    <a:lstStyle/>
                    <a:p>
                      <a:pPr marL="0" marR="0" lvl="0" indent="0" algn="ctr" rtl="0">
                        <a:spcBef>
                          <a:spcPts val="0"/>
                        </a:spcBef>
                        <a:spcAft>
                          <a:spcPts val="0"/>
                        </a:spcAft>
                        <a:buNone/>
                      </a:pPr>
                      <a:r>
                        <a:rPr lang="en-US" sz="1800" u="none" strike="noStrike" cap="none"/>
                        <a:t>TEAM MEMBER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dirty="0"/>
                        <a:t>Recent Passport Photo</a:t>
                      </a:r>
                      <a:endParaRPr sz="1800" u="none" strike="noStrike" cap="none" dirty="0"/>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1" u="none" strike="noStrike" cap="none">
                          <a:solidFill>
                            <a:schemeClr val="lt1"/>
                          </a:solidFill>
                          <a:latin typeface="Calibri"/>
                          <a:ea typeface="Calibri"/>
                          <a:cs typeface="Calibri"/>
                          <a:sym typeface="Calibri"/>
                        </a:rPr>
                        <a:t>Email ID </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1" u="none" strike="noStrike" cap="none">
                          <a:solidFill>
                            <a:schemeClr val="lt1"/>
                          </a:solidFill>
                          <a:latin typeface="Calibri"/>
                          <a:ea typeface="Calibri"/>
                          <a:cs typeface="Calibri"/>
                          <a:sym typeface="Calibri"/>
                        </a:rPr>
                        <a:t>Phone number</a:t>
                      </a:r>
                      <a:endParaRPr/>
                    </a:p>
                    <a:p>
                      <a:pPr marL="0" marR="0" lvl="0" indent="0" algn="ctr" rtl="0">
                        <a:lnSpc>
                          <a:spcPct val="100000"/>
                        </a:lnSpc>
                        <a:spcBef>
                          <a:spcPts val="0"/>
                        </a:spcBef>
                        <a:spcAft>
                          <a:spcPts val="0"/>
                        </a:spcAft>
                        <a:buClr>
                          <a:schemeClr val="lt1"/>
                        </a:buClr>
                        <a:buSzPts val="1800"/>
                        <a:buFont typeface="Calibri"/>
                        <a:buNone/>
                      </a:pPr>
                      <a:r>
                        <a:rPr lang="en-US" sz="1800" b="1" u="none" strike="noStrike" cap="none">
                          <a:solidFill>
                            <a:schemeClr val="lt1"/>
                          </a:solidFill>
                          <a:latin typeface="Calibri"/>
                          <a:ea typeface="Calibri"/>
                          <a:cs typeface="Calibri"/>
                          <a:sym typeface="Calibri"/>
                        </a:rPr>
                        <a:t>[WhatsApp] </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970950">
                <a:tc>
                  <a:txBody>
                    <a:bodyPr/>
                    <a:lstStyle/>
                    <a:p>
                      <a:pPr marL="0" marR="0" lvl="0" indent="0" algn="l" rtl="0">
                        <a:spcBef>
                          <a:spcPts val="0"/>
                        </a:spcBef>
                        <a:spcAft>
                          <a:spcPts val="0"/>
                        </a:spcAft>
                        <a:buNone/>
                      </a:pPr>
                      <a:r>
                        <a:rPr lang="en-US" dirty="0"/>
                        <a:t>BHASKAR S</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dirty="0"/>
                        <a:t>bhaskarsnaidu8776@gmail.com</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dirty="0"/>
                        <a:t>9663949447</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r h="1262225">
                <a:tc>
                  <a:txBody>
                    <a:bodyPr/>
                    <a:lstStyle/>
                    <a:p>
                      <a:pPr marL="0" marR="0" lvl="0" indent="0" algn="l" rtl="0">
                        <a:spcBef>
                          <a:spcPts val="0"/>
                        </a:spcBef>
                        <a:spcAft>
                          <a:spcPts val="0"/>
                        </a:spcAft>
                        <a:buNone/>
                      </a:pPr>
                      <a:r>
                        <a:rPr lang="en-US" dirty="0"/>
                        <a:t>G DAEWOO SRI PRASAD</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9EFF7"/>
                    </a:solidFill>
                  </a:tcPr>
                </a:tc>
                <a:tc>
                  <a:txBody>
                    <a:bodyPr/>
                    <a:lstStyle/>
                    <a:p>
                      <a:pPr marL="0" marR="0" lvl="0" indent="0" algn="l" rtl="0">
                        <a:spcBef>
                          <a:spcPts val="0"/>
                        </a:spcBef>
                        <a:spcAft>
                          <a:spcPts val="0"/>
                        </a:spcAft>
                        <a:buNone/>
                      </a:pPr>
                      <a:endParaRPr sz="180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E9EFF7"/>
                    </a:solidFill>
                  </a:tcPr>
                </a:tc>
                <a:tc>
                  <a:txBody>
                    <a:bodyPr/>
                    <a:lstStyle/>
                    <a:p>
                      <a:pPr marL="0" marR="0" lvl="0" indent="0" algn="l" rtl="0">
                        <a:spcBef>
                          <a:spcPts val="0"/>
                        </a:spcBef>
                        <a:spcAft>
                          <a:spcPts val="0"/>
                        </a:spcAft>
                        <a:buNone/>
                      </a:pPr>
                      <a:r>
                        <a:rPr lang="en-US" dirty="0"/>
                        <a:t>daewoosriprasadg@gmail.com</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9EFF7"/>
                    </a:solidFill>
                  </a:tcPr>
                </a:tc>
                <a:tc>
                  <a:txBody>
                    <a:bodyPr/>
                    <a:lstStyle/>
                    <a:p>
                      <a:pPr marL="0" marR="0" lvl="0" indent="0" algn="l" rtl="0">
                        <a:spcBef>
                          <a:spcPts val="0"/>
                        </a:spcBef>
                        <a:spcAft>
                          <a:spcPts val="0"/>
                        </a:spcAft>
                        <a:buNone/>
                      </a:pPr>
                      <a:r>
                        <a:rPr lang="en-US" dirty="0"/>
                        <a:t>9113589606</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9EFF7"/>
                    </a:solidFill>
                  </a:tcPr>
                </a:tc>
                <a:extLst>
                  <a:ext uri="{0D108BD9-81ED-4DB2-BD59-A6C34878D82A}">
                    <a16:rowId xmlns:a16="http://schemas.microsoft.com/office/drawing/2014/main" val="10002"/>
                  </a:ext>
                </a:extLst>
              </a:tr>
              <a:tr h="970950">
                <a:tc>
                  <a:txBody>
                    <a:bodyPr/>
                    <a:lstStyle/>
                    <a:p>
                      <a:pPr marL="0" marR="0" lvl="0" indent="0" algn="l" rtl="0">
                        <a:spcBef>
                          <a:spcPts val="0"/>
                        </a:spcBef>
                        <a:spcAft>
                          <a:spcPts val="0"/>
                        </a:spcAft>
                        <a:buNone/>
                      </a:pPr>
                      <a:endParaRPr sz="180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3"/>
                  </a:ext>
                </a:extLst>
              </a:tr>
            </a:tbl>
          </a:graphicData>
        </a:graphic>
      </p:graphicFrame>
      <p:pic>
        <p:nvPicPr>
          <p:cNvPr id="4" name="Picture 3">
            <a:extLst>
              <a:ext uri="{FF2B5EF4-FFF2-40B4-BE49-F238E27FC236}">
                <a16:creationId xmlns:a16="http://schemas.microsoft.com/office/drawing/2014/main" id="{93071BE8-5070-42BA-3450-6F0039B8532C}"/>
              </a:ext>
            </a:extLst>
          </p:cNvPr>
          <p:cNvPicPr>
            <a:picLocks noChangeAspect="1"/>
          </p:cNvPicPr>
          <p:nvPr/>
        </p:nvPicPr>
        <p:blipFill>
          <a:blip r:embed="rId3"/>
          <a:stretch>
            <a:fillRect/>
          </a:stretch>
        </p:blipFill>
        <p:spPr>
          <a:xfrm>
            <a:off x="335797" y="6315517"/>
            <a:ext cx="11520407" cy="310052"/>
          </a:xfrm>
          <a:prstGeom prst="rect">
            <a:avLst/>
          </a:prstGeom>
        </p:spPr>
      </p:pic>
      <p:pic>
        <p:nvPicPr>
          <p:cNvPr id="5" name="Picture 4">
            <a:extLst>
              <a:ext uri="{FF2B5EF4-FFF2-40B4-BE49-F238E27FC236}">
                <a16:creationId xmlns:a16="http://schemas.microsoft.com/office/drawing/2014/main" id="{B29103ED-7F29-293A-C500-48BA68010CB7}"/>
              </a:ext>
            </a:extLst>
          </p:cNvPr>
          <p:cNvPicPr>
            <a:picLocks noChangeAspect="1"/>
          </p:cNvPicPr>
          <p:nvPr/>
        </p:nvPicPr>
        <p:blipFill>
          <a:blip r:embed="rId4"/>
          <a:stretch>
            <a:fillRect/>
          </a:stretch>
        </p:blipFill>
        <p:spPr>
          <a:xfrm>
            <a:off x="4778610" y="2777244"/>
            <a:ext cx="815915" cy="923678"/>
          </a:xfrm>
          <a:prstGeom prst="rect">
            <a:avLst/>
          </a:prstGeom>
        </p:spPr>
      </p:pic>
      <p:pic>
        <p:nvPicPr>
          <p:cNvPr id="7" name="Picture 6">
            <a:extLst>
              <a:ext uri="{FF2B5EF4-FFF2-40B4-BE49-F238E27FC236}">
                <a16:creationId xmlns:a16="http://schemas.microsoft.com/office/drawing/2014/main" id="{11C97A06-9B21-D2E9-4C23-BECDD140D33A}"/>
              </a:ext>
            </a:extLst>
          </p:cNvPr>
          <p:cNvPicPr>
            <a:picLocks noChangeAspect="1"/>
          </p:cNvPicPr>
          <p:nvPr/>
        </p:nvPicPr>
        <p:blipFill>
          <a:blip r:embed="rId5"/>
          <a:stretch>
            <a:fillRect/>
          </a:stretch>
        </p:blipFill>
        <p:spPr>
          <a:xfrm>
            <a:off x="4778610" y="3856404"/>
            <a:ext cx="815915" cy="1035261"/>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804672" y="1188720"/>
            <a:ext cx="7616952" cy="1446550"/>
          </a:xfrm>
          <a:prstGeom prst="rect">
            <a:avLst/>
          </a:prstGeom>
          <a:noFill/>
        </p:spPr>
        <p:txBody>
          <a:bodyPr wrap="square" rtlCol="0">
            <a:spAutoFit/>
          </a:bodyPr>
          <a:lstStyle/>
          <a:p>
            <a:r>
              <a:rPr lang="en-US" sz="1600" b="1" dirty="0"/>
              <a:t>AI-Assisted Yield Trend Analysis and Farm Planning System </a:t>
            </a:r>
          </a:p>
          <a:p>
            <a:endParaRPr lang="en-US" sz="1600" b="1" dirty="0"/>
          </a:p>
          <a:p>
            <a:r>
              <a:rPr lang="en-US" dirty="0"/>
              <a:t>Understanding yield variability across seasons is essential for improving farm productivity. However, historical yield data combined with environmental and management factors is often underutilized due to analytical complexity. An intelligent AI system is required to analyze yield trends and identify contributing factors</a:t>
            </a:r>
            <a:endParaRPr lang="en-IN" dirty="0"/>
          </a:p>
        </p:txBody>
      </p:sp>
      <p:sp>
        <p:nvSpPr>
          <p:cNvPr id="3" name="TextBox 2">
            <a:extLst>
              <a:ext uri="{FF2B5EF4-FFF2-40B4-BE49-F238E27FC236}">
                <a16:creationId xmlns:a16="http://schemas.microsoft.com/office/drawing/2014/main" id="{9C57FE32-8AA8-E540-E0AA-C9737C71A0E2}"/>
              </a:ext>
            </a:extLst>
          </p:cNvPr>
          <p:cNvSpPr txBox="1"/>
          <p:nvPr/>
        </p:nvSpPr>
        <p:spPr>
          <a:xfrm>
            <a:off x="805056" y="447690"/>
            <a:ext cx="3226839"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Problem statement </a:t>
            </a:r>
          </a:p>
        </p:txBody>
      </p:sp>
      <p:pic>
        <p:nvPicPr>
          <p:cNvPr id="5" name="Picture 4">
            <a:extLst>
              <a:ext uri="{FF2B5EF4-FFF2-40B4-BE49-F238E27FC236}">
                <a16:creationId xmlns:a16="http://schemas.microsoft.com/office/drawing/2014/main" id="{E7A64CCA-ED49-69BC-3595-2C1CBD5E6D02}"/>
              </a:ext>
            </a:extLst>
          </p:cNvPr>
          <p:cNvPicPr>
            <a:picLocks noChangeAspect="1"/>
          </p:cNvPicPr>
          <p:nvPr/>
        </p:nvPicPr>
        <p:blipFill>
          <a:blip r:embed="rId3"/>
          <a:stretch>
            <a:fillRect/>
          </a:stretch>
        </p:blipFill>
        <p:spPr>
          <a:xfrm>
            <a:off x="335797" y="6315517"/>
            <a:ext cx="11520407" cy="310052"/>
          </a:xfrm>
          <a:prstGeom prst="rect">
            <a:avLst/>
          </a:prstGeom>
        </p:spPr>
      </p:pic>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8" name="Google Shape;118;p4"/>
          <p:cNvSpPr/>
          <p:nvPr/>
        </p:nvSpPr>
        <p:spPr>
          <a:xfrm>
            <a:off x="324894" y="4502602"/>
            <a:ext cx="2328056" cy="1889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8244C99C-C879-4B03-F7F7-7306F7D33083}"/>
              </a:ext>
            </a:extLst>
          </p:cNvPr>
          <p:cNvSpPr txBox="1"/>
          <p:nvPr/>
        </p:nvSpPr>
        <p:spPr>
          <a:xfrm>
            <a:off x="622781" y="1645886"/>
            <a:ext cx="10268712" cy="1384995"/>
          </a:xfrm>
          <a:prstGeom prst="rect">
            <a:avLst/>
          </a:prstGeom>
          <a:noFill/>
        </p:spPr>
        <p:txBody>
          <a:bodyPr wrap="square" rtlCol="0">
            <a:spAutoFit/>
          </a:bodyPr>
          <a:lstStyle/>
          <a:p>
            <a:r>
              <a:rPr lang="en-US" dirty="0"/>
              <a:t>An </a:t>
            </a:r>
            <a:r>
              <a:rPr lang="en-US" b="1" dirty="0"/>
              <a:t>Agentic AI System</a:t>
            </a:r>
            <a:r>
              <a:rPr lang="en-US" dirty="0"/>
              <a:t> built using </a:t>
            </a:r>
            <a:r>
              <a:rPr lang="en-US" b="1" dirty="0" err="1"/>
              <a:t>Langflow</a:t>
            </a:r>
            <a:r>
              <a:rPr lang="en-US" b="1" dirty="0"/>
              <a:t> and IBM Granite</a:t>
            </a:r>
            <a:r>
              <a:rPr lang="en-US" dirty="0"/>
              <a:t> that:</a:t>
            </a:r>
          </a:p>
          <a:p>
            <a:br>
              <a:rPr lang="en-US" dirty="0"/>
            </a:br>
            <a:r>
              <a:rPr lang="en-US" dirty="0"/>
              <a:t>• Analyzes historical yield and farm data</a:t>
            </a:r>
            <a:br>
              <a:rPr lang="en-US" dirty="0"/>
            </a:br>
            <a:r>
              <a:rPr lang="en-US" dirty="0"/>
              <a:t>• Detects trends and correlations</a:t>
            </a:r>
            <a:br>
              <a:rPr lang="en-US" dirty="0"/>
            </a:br>
            <a:r>
              <a:rPr lang="en-US" dirty="0"/>
              <a:t>• Provides assistive farm planning insights</a:t>
            </a:r>
            <a:br>
              <a:rPr lang="en-US" dirty="0"/>
            </a:br>
            <a:r>
              <a:rPr lang="en-US" dirty="0"/>
              <a:t>• Uses RAG with agricultural research</a:t>
            </a:r>
            <a:endParaRPr lang="en-IN" dirty="0"/>
          </a:p>
        </p:txBody>
      </p:sp>
      <p:sp>
        <p:nvSpPr>
          <p:cNvPr id="3" name="TextBox 2">
            <a:extLst>
              <a:ext uri="{FF2B5EF4-FFF2-40B4-BE49-F238E27FC236}">
                <a16:creationId xmlns:a16="http://schemas.microsoft.com/office/drawing/2014/main" id="{2F548320-B634-92CD-C520-43B25557F859}"/>
              </a:ext>
            </a:extLst>
          </p:cNvPr>
          <p:cNvSpPr txBox="1"/>
          <p:nvPr/>
        </p:nvSpPr>
        <p:spPr>
          <a:xfrm>
            <a:off x="893255" y="741143"/>
            <a:ext cx="4539190"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Proposed solution </a:t>
            </a:r>
          </a:p>
        </p:txBody>
      </p:sp>
      <p:pic>
        <p:nvPicPr>
          <p:cNvPr id="5" name="Picture 4">
            <a:extLst>
              <a:ext uri="{FF2B5EF4-FFF2-40B4-BE49-F238E27FC236}">
                <a16:creationId xmlns:a16="http://schemas.microsoft.com/office/drawing/2014/main" id="{68EE1157-422B-2DEC-F7BF-0A06B973C983}"/>
              </a:ext>
            </a:extLst>
          </p:cNvPr>
          <p:cNvPicPr>
            <a:picLocks noChangeAspect="1"/>
          </p:cNvPicPr>
          <p:nvPr/>
        </p:nvPicPr>
        <p:blipFill>
          <a:blip r:embed="rId3"/>
          <a:stretch>
            <a:fillRect/>
          </a:stretch>
        </p:blipFill>
        <p:spPr>
          <a:xfrm>
            <a:off x="335797" y="6315517"/>
            <a:ext cx="11520407" cy="310052"/>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2">
          <a:extLst>
            <a:ext uri="{FF2B5EF4-FFF2-40B4-BE49-F238E27FC236}">
              <a16:creationId xmlns:a16="http://schemas.microsoft.com/office/drawing/2014/main" id="{A01B5799-6C2E-7FE4-A2C6-734DB0499C95}"/>
            </a:ext>
          </a:extLst>
        </p:cNvPr>
        <p:cNvGrpSpPr/>
        <p:nvPr/>
      </p:nvGrpSpPr>
      <p:grpSpPr>
        <a:xfrm>
          <a:off x="0" y="0"/>
          <a:ext cx="0" cy="0"/>
          <a:chOff x="0" y="0"/>
          <a:chExt cx="0" cy="0"/>
        </a:xfrm>
      </p:grpSpPr>
      <p:sp>
        <p:nvSpPr>
          <p:cNvPr id="118" name="Google Shape;118;p4">
            <a:extLst>
              <a:ext uri="{FF2B5EF4-FFF2-40B4-BE49-F238E27FC236}">
                <a16:creationId xmlns:a16="http://schemas.microsoft.com/office/drawing/2014/main" id="{4CB905EF-62C2-FD1F-CE05-FBD2CBBD3921}"/>
              </a:ext>
            </a:extLst>
          </p:cNvPr>
          <p:cNvSpPr/>
          <p:nvPr/>
        </p:nvSpPr>
        <p:spPr>
          <a:xfrm>
            <a:off x="324894" y="4502602"/>
            <a:ext cx="2328056" cy="1889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D6526727-ECCC-12A7-1A74-4C72030B01EA}"/>
              </a:ext>
            </a:extLst>
          </p:cNvPr>
          <p:cNvSpPr txBox="1"/>
          <p:nvPr/>
        </p:nvSpPr>
        <p:spPr>
          <a:xfrm>
            <a:off x="1005840" y="1584102"/>
            <a:ext cx="10268712" cy="1169551"/>
          </a:xfrm>
          <a:prstGeom prst="rect">
            <a:avLst/>
          </a:prstGeom>
          <a:noFill/>
        </p:spPr>
        <p:txBody>
          <a:bodyPr wrap="square" rtlCol="0">
            <a:spAutoFit/>
          </a:bodyPr>
          <a:lstStyle/>
          <a:p>
            <a:r>
              <a:rPr lang="en-US" dirty="0"/>
              <a:t>• To analyze historical crop yield data and identify important trends and patterns.</a:t>
            </a:r>
          </a:p>
          <a:p>
            <a:br>
              <a:rPr lang="en-US" dirty="0"/>
            </a:br>
            <a:r>
              <a:rPr lang="en-US" dirty="0"/>
              <a:t>• To support data-driven farm planning using AI instead of manual analysis.</a:t>
            </a:r>
          </a:p>
          <a:p>
            <a:br>
              <a:rPr lang="en-US" dirty="0"/>
            </a:br>
            <a:r>
              <a:rPr lang="en-US" dirty="0"/>
              <a:t>• To improve productivity and promote sustainable agricultural practices.</a:t>
            </a:r>
          </a:p>
        </p:txBody>
      </p:sp>
      <p:sp>
        <p:nvSpPr>
          <p:cNvPr id="3" name="TextBox 2">
            <a:extLst>
              <a:ext uri="{FF2B5EF4-FFF2-40B4-BE49-F238E27FC236}">
                <a16:creationId xmlns:a16="http://schemas.microsoft.com/office/drawing/2014/main" id="{0A9D9ED1-DFE2-2CB1-E07B-2D3C44A85C9C}"/>
              </a:ext>
            </a:extLst>
          </p:cNvPr>
          <p:cNvSpPr txBox="1"/>
          <p:nvPr/>
        </p:nvSpPr>
        <p:spPr>
          <a:xfrm>
            <a:off x="1034441" y="524940"/>
            <a:ext cx="5496434"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Need of project </a:t>
            </a:r>
          </a:p>
        </p:txBody>
      </p:sp>
      <p:pic>
        <p:nvPicPr>
          <p:cNvPr id="5" name="Picture 4">
            <a:extLst>
              <a:ext uri="{FF2B5EF4-FFF2-40B4-BE49-F238E27FC236}">
                <a16:creationId xmlns:a16="http://schemas.microsoft.com/office/drawing/2014/main" id="{B04F3E9D-0527-2FF2-E87C-9369E2B678CF}"/>
              </a:ext>
            </a:extLst>
          </p:cNvPr>
          <p:cNvPicPr>
            <a:picLocks noChangeAspect="1"/>
          </p:cNvPicPr>
          <p:nvPr/>
        </p:nvPicPr>
        <p:blipFill>
          <a:blip r:embed="rId3"/>
          <a:stretch>
            <a:fillRect/>
          </a:stretch>
        </p:blipFill>
        <p:spPr>
          <a:xfrm>
            <a:off x="335797" y="6315517"/>
            <a:ext cx="11520407" cy="310052"/>
          </a:xfrm>
          <a:prstGeom prst="rect">
            <a:avLst/>
          </a:prstGeom>
        </p:spPr>
      </p:pic>
    </p:spTree>
    <p:extLst>
      <p:ext uri="{BB962C8B-B14F-4D97-AF65-F5344CB8AC3E}">
        <p14:creationId xmlns:p14="http://schemas.microsoft.com/office/powerpoint/2010/main" val="10341395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2">
          <a:extLst>
            <a:ext uri="{FF2B5EF4-FFF2-40B4-BE49-F238E27FC236}">
              <a16:creationId xmlns:a16="http://schemas.microsoft.com/office/drawing/2014/main" id="{1D21EE38-4FEA-9D7F-68F1-831EDFE1FCF2}"/>
            </a:ext>
          </a:extLst>
        </p:cNvPr>
        <p:cNvGrpSpPr/>
        <p:nvPr/>
      </p:nvGrpSpPr>
      <p:grpSpPr>
        <a:xfrm>
          <a:off x="0" y="0"/>
          <a:ext cx="0" cy="0"/>
          <a:chOff x="0" y="0"/>
          <a:chExt cx="0" cy="0"/>
        </a:xfrm>
      </p:grpSpPr>
      <p:sp>
        <p:nvSpPr>
          <p:cNvPr id="118" name="Google Shape;118;p4">
            <a:extLst>
              <a:ext uri="{FF2B5EF4-FFF2-40B4-BE49-F238E27FC236}">
                <a16:creationId xmlns:a16="http://schemas.microsoft.com/office/drawing/2014/main" id="{68C1E71E-9159-FD3B-73D2-CC7380E7CB93}"/>
              </a:ext>
            </a:extLst>
          </p:cNvPr>
          <p:cNvSpPr/>
          <p:nvPr/>
        </p:nvSpPr>
        <p:spPr>
          <a:xfrm>
            <a:off x="324894" y="4502602"/>
            <a:ext cx="2328056" cy="1889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081273CA-7EF7-F715-EF93-66F231F3ABD1}"/>
              </a:ext>
            </a:extLst>
          </p:cNvPr>
          <p:cNvSpPr txBox="1"/>
          <p:nvPr/>
        </p:nvSpPr>
        <p:spPr>
          <a:xfrm>
            <a:off x="1005840" y="1584102"/>
            <a:ext cx="10850364" cy="2031325"/>
          </a:xfrm>
          <a:prstGeom prst="rect">
            <a:avLst/>
          </a:prstGeom>
          <a:noFill/>
        </p:spPr>
        <p:txBody>
          <a:bodyPr wrap="square" rtlCol="0">
            <a:spAutoFit/>
          </a:bodyPr>
          <a:lstStyle/>
          <a:p>
            <a:r>
              <a:rPr lang="en-US" dirty="0"/>
              <a:t>• </a:t>
            </a:r>
            <a:r>
              <a:rPr lang="en-US" b="1" dirty="0"/>
              <a:t>Farmers</a:t>
            </a:r>
            <a:r>
              <a:rPr lang="en-US" dirty="0"/>
              <a:t> – To understand historical yield trends and make informed crop planning decisions.</a:t>
            </a:r>
          </a:p>
          <a:p>
            <a:endParaRPr lang="en-US" dirty="0"/>
          </a:p>
          <a:p>
            <a:r>
              <a:rPr lang="en-US" dirty="0"/>
              <a:t>• </a:t>
            </a:r>
            <a:r>
              <a:rPr lang="en-US" b="1" dirty="0"/>
              <a:t>Agricultural Planners &amp; Agronomists</a:t>
            </a:r>
            <a:r>
              <a:rPr lang="en-US" dirty="0"/>
              <a:t> – To analyze yield patterns and recommend better farming practices based on data insights.</a:t>
            </a:r>
          </a:p>
          <a:p>
            <a:endParaRPr lang="en-US" dirty="0"/>
          </a:p>
          <a:p>
            <a:r>
              <a:rPr lang="en-US" dirty="0"/>
              <a:t>• </a:t>
            </a:r>
            <a:r>
              <a:rPr lang="en-US" b="1" dirty="0"/>
              <a:t>Farm Management Organizations</a:t>
            </a:r>
            <a:r>
              <a:rPr lang="en-US" dirty="0"/>
              <a:t> – To optimize resource usage and improve long-term productivity.</a:t>
            </a:r>
          </a:p>
          <a:p>
            <a:endParaRPr lang="en-US" dirty="0"/>
          </a:p>
          <a:p>
            <a:r>
              <a:rPr lang="en-US" dirty="0"/>
              <a:t>• </a:t>
            </a:r>
            <a:r>
              <a:rPr lang="en-US" b="1" dirty="0"/>
              <a:t>Government &amp; Agricultural Departments</a:t>
            </a:r>
            <a:r>
              <a:rPr lang="en-US" dirty="0"/>
              <a:t> – To support policy planning, crop forecasting, and food security initiatives.</a:t>
            </a:r>
          </a:p>
          <a:p>
            <a:endParaRPr lang="en-US" dirty="0"/>
          </a:p>
          <a:p>
            <a:r>
              <a:rPr lang="en-US" dirty="0"/>
              <a:t>• </a:t>
            </a:r>
            <a:r>
              <a:rPr lang="en-US" b="1" dirty="0"/>
              <a:t>Research Institutions</a:t>
            </a:r>
            <a:r>
              <a:rPr lang="en-US" dirty="0"/>
              <a:t> – To study yield variability and evaluate the impact of environmental and management factors.</a:t>
            </a:r>
          </a:p>
        </p:txBody>
      </p:sp>
      <p:sp>
        <p:nvSpPr>
          <p:cNvPr id="3" name="TextBox 2">
            <a:extLst>
              <a:ext uri="{FF2B5EF4-FFF2-40B4-BE49-F238E27FC236}">
                <a16:creationId xmlns:a16="http://schemas.microsoft.com/office/drawing/2014/main" id="{F987C414-2D49-9E5D-A5D6-CF94524B9BE5}"/>
              </a:ext>
            </a:extLst>
          </p:cNvPr>
          <p:cNvSpPr txBox="1"/>
          <p:nvPr/>
        </p:nvSpPr>
        <p:spPr>
          <a:xfrm>
            <a:off x="1034441" y="524940"/>
            <a:ext cx="5496434"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End user of project</a:t>
            </a:r>
            <a:endParaRPr lang="en-US" sz="2400" dirty="0"/>
          </a:p>
        </p:txBody>
      </p:sp>
      <p:pic>
        <p:nvPicPr>
          <p:cNvPr id="5" name="Picture 4">
            <a:extLst>
              <a:ext uri="{FF2B5EF4-FFF2-40B4-BE49-F238E27FC236}">
                <a16:creationId xmlns:a16="http://schemas.microsoft.com/office/drawing/2014/main" id="{2899F497-8CBE-8DC8-B6F2-DCAEF5D36669}"/>
              </a:ext>
            </a:extLst>
          </p:cNvPr>
          <p:cNvPicPr>
            <a:picLocks noChangeAspect="1"/>
          </p:cNvPicPr>
          <p:nvPr/>
        </p:nvPicPr>
        <p:blipFill>
          <a:blip r:embed="rId3"/>
          <a:stretch>
            <a:fillRect/>
          </a:stretch>
        </p:blipFill>
        <p:spPr>
          <a:xfrm>
            <a:off x="335797" y="6315517"/>
            <a:ext cx="11520407" cy="310052"/>
          </a:xfrm>
          <a:prstGeom prst="rect">
            <a:avLst/>
          </a:prstGeom>
        </p:spPr>
      </p:pic>
    </p:spTree>
    <p:extLst>
      <p:ext uri="{BB962C8B-B14F-4D97-AF65-F5344CB8AC3E}">
        <p14:creationId xmlns:p14="http://schemas.microsoft.com/office/powerpoint/2010/main" val="42811765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228600" y="315038"/>
            <a:ext cx="7123176" cy="461665"/>
          </a:xfrm>
          <a:prstGeom prst="rect">
            <a:avLst/>
          </a:prstGeom>
          <a:noFill/>
        </p:spPr>
        <p:txBody>
          <a:bodyPr wrap="square" rtlCol="0">
            <a:spAutoFit/>
          </a:bodyPr>
          <a:lstStyle/>
          <a:p>
            <a:r>
              <a:rPr lang="en-US" sz="2400" b="1" dirty="0"/>
              <a:t>Technology Used</a:t>
            </a:r>
            <a:endParaRPr lang="en-IN" sz="2400" b="1" dirty="0"/>
          </a:p>
        </p:txBody>
      </p:sp>
      <p:sp>
        <p:nvSpPr>
          <p:cNvPr id="3" name="TextBox 2">
            <a:extLst>
              <a:ext uri="{FF2B5EF4-FFF2-40B4-BE49-F238E27FC236}">
                <a16:creationId xmlns:a16="http://schemas.microsoft.com/office/drawing/2014/main" id="{4A7608B5-9906-EFCF-959A-E89FC2E3EE19}"/>
              </a:ext>
            </a:extLst>
          </p:cNvPr>
          <p:cNvSpPr txBox="1"/>
          <p:nvPr/>
        </p:nvSpPr>
        <p:spPr>
          <a:xfrm>
            <a:off x="228600" y="1207008"/>
            <a:ext cx="11064240" cy="4124206"/>
          </a:xfrm>
          <a:prstGeom prst="rect">
            <a:avLst/>
          </a:prstGeom>
          <a:noFill/>
        </p:spPr>
        <p:txBody>
          <a:bodyPr wrap="square" rtlCol="0">
            <a:spAutoFit/>
          </a:bodyPr>
          <a:lstStyle/>
          <a:p>
            <a:pPr marL="285750" indent="-285750">
              <a:buFont typeface="Arial" panose="020B0604020202020204" pitchFamily="34" charset="0"/>
              <a:buChar char="•"/>
            </a:pPr>
            <a:r>
              <a:rPr lang="en-US" sz="1800" dirty="0" err="1"/>
              <a:t>Langflow</a:t>
            </a:r>
            <a:r>
              <a:rPr lang="en-US" sz="1800" dirty="0"/>
              <a:t> platform</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dirty="0" err="1"/>
              <a:t>Langflow</a:t>
            </a:r>
            <a:r>
              <a:rPr lang="en-US" sz="1800" dirty="0"/>
              <a:t> component name – Chat Input, IBM </a:t>
            </a:r>
            <a:r>
              <a:rPr lang="en-US" sz="1800" dirty="0" err="1"/>
              <a:t>Watsonx</a:t>
            </a:r>
            <a:r>
              <a:rPr lang="en-US" sz="1800" dirty="0"/>
              <a:t>  AI Agent, Chat Output</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dirty="0"/>
              <a:t>IBM </a:t>
            </a:r>
            <a:r>
              <a:rPr lang="en-US" sz="1800" dirty="0" err="1"/>
              <a:t>Grainte</a:t>
            </a:r>
            <a:r>
              <a:rPr lang="en-US" sz="1800" dirty="0"/>
              <a:t> model -  for </a:t>
            </a:r>
            <a:r>
              <a:rPr lang="en-US" sz="1800" dirty="0" err="1"/>
              <a:t>eg</a:t>
            </a:r>
            <a:r>
              <a:rPr lang="en-US" sz="1800" dirty="0"/>
              <a:t> – ibm-granite-3-2-8b   </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dirty="0"/>
              <a:t>IBM Cloud</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dirty="0"/>
              <a:t>IBM Watsonx.ai</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dirty="0" err="1"/>
              <a:t>Watsonx</a:t>
            </a:r>
            <a:endParaRPr lang="en-US" sz="1800"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endParaRPr lang="en-US" dirty="0"/>
          </a:p>
          <a:p>
            <a:endParaRPr lang="en-IN" dirty="0"/>
          </a:p>
        </p:txBody>
      </p:sp>
      <p:pic>
        <p:nvPicPr>
          <p:cNvPr id="5" name="Picture 4">
            <a:extLst>
              <a:ext uri="{FF2B5EF4-FFF2-40B4-BE49-F238E27FC236}">
                <a16:creationId xmlns:a16="http://schemas.microsoft.com/office/drawing/2014/main" id="{BD72C005-E1BD-D1EA-4A68-50937DBCE5A8}"/>
              </a:ext>
            </a:extLst>
          </p:cNvPr>
          <p:cNvPicPr>
            <a:picLocks noChangeAspect="1"/>
          </p:cNvPicPr>
          <p:nvPr/>
        </p:nvPicPr>
        <p:blipFill>
          <a:blip r:embed="rId3"/>
          <a:stretch>
            <a:fillRect/>
          </a:stretch>
        </p:blipFill>
        <p:spPr>
          <a:xfrm>
            <a:off x="335797" y="6315517"/>
            <a:ext cx="11520407" cy="310052"/>
          </a:xfrm>
          <a:prstGeom prst="rect">
            <a:avLst/>
          </a:prstGeom>
        </p:spPr>
      </p:pic>
    </p:spTree>
    <p:extLst>
      <p:ext uri="{BB962C8B-B14F-4D97-AF65-F5344CB8AC3E}">
        <p14:creationId xmlns:p14="http://schemas.microsoft.com/office/powerpoint/2010/main" val="37644058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8" name="Google Shape;278;p18"/>
          <p:cNvSpPr/>
          <p:nvPr/>
        </p:nvSpPr>
        <p:spPr>
          <a:xfrm>
            <a:off x="1218724" y="475593"/>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3500" b="1" i="0" u="none" strike="noStrike" cap="none" dirty="0">
                <a:solidFill>
                  <a:srgbClr val="051D3A"/>
                </a:solidFill>
                <a:latin typeface="Times New Roman"/>
                <a:ea typeface="Times New Roman"/>
                <a:cs typeface="Times New Roman"/>
                <a:sym typeface="Times New Roman"/>
              </a:rPr>
              <a:t>Novelty and Uniqueness</a:t>
            </a:r>
            <a:endParaRPr sz="3500" b="1" i="0" u="none" strike="noStrike" cap="none" dirty="0">
              <a:solidFill>
                <a:srgbClr val="000000"/>
              </a:solidFill>
              <a:latin typeface="Times New Roman"/>
              <a:ea typeface="Times New Roman"/>
              <a:cs typeface="Times New Roman"/>
              <a:sym typeface="Times New Roman"/>
            </a:endParaRPr>
          </a:p>
        </p:txBody>
      </p:sp>
      <p:sp>
        <p:nvSpPr>
          <p:cNvPr id="279" name="Google Shape;279;p18"/>
          <p:cNvSpPr/>
          <p:nvPr/>
        </p:nvSpPr>
        <p:spPr>
          <a:xfrm>
            <a:off x="1064264" y="1583562"/>
            <a:ext cx="7468553" cy="766048"/>
          </a:xfrm>
          <a:prstGeom prst="rect">
            <a:avLst/>
          </a:prstGeom>
          <a:noFill/>
          <a:ln>
            <a:noFill/>
          </a:ln>
        </p:spPr>
        <p:txBody>
          <a:bodyPr spcFirstLastPara="1" wrap="square" lIns="0" tIns="0" rIns="0" bIns="0" anchor="t" anchorCtr="0">
            <a:noAutofit/>
          </a:bodyPr>
          <a:lstStyle/>
          <a:p>
            <a:pPr lvl="0">
              <a:lnSpc>
                <a:spcPct val="162162"/>
              </a:lnSpc>
              <a:buClr>
                <a:srgbClr val="2B3541"/>
              </a:buClr>
              <a:buSzPts val="1850"/>
            </a:pPr>
            <a:r>
              <a:rPr lang="en-US" sz="2000" dirty="0"/>
              <a:t>• Uses </a:t>
            </a:r>
            <a:r>
              <a:rPr lang="en-US" sz="2000" b="1" dirty="0"/>
              <a:t>AI agents</a:t>
            </a:r>
            <a:r>
              <a:rPr lang="en-US" sz="2000" dirty="0"/>
              <a:t> to analyze crop yield data instead of manual methods.</a:t>
            </a:r>
            <a:br>
              <a:rPr lang="en-US" sz="2000" dirty="0"/>
            </a:br>
            <a:r>
              <a:rPr lang="en-US" sz="2000" dirty="0"/>
              <a:t>• Combines </a:t>
            </a:r>
            <a:r>
              <a:rPr lang="en-US" sz="2000" b="1" dirty="0"/>
              <a:t>historical yield, weather, and soil data</a:t>
            </a:r>
            <a:r>
              <a:rPr lang="en-US" sz="2000" dirty="0"/>
              <a:t> for better insights.</a:t>
            </a:r>
            <a:br>
              <a:rPr lang="en-US" sz="2000" dirty="0"/>
            </a:br>
            <a:r>
              <a:rPr lang="en-US" sz="2000" dirty="0"/>
              <a:t>• Provides </a:t>
            </a:r>
            <a:r>
              <a:rPr lang="en-US" sz="2000" b="1" dirty="0"/>
              <a:t>simple, explainable planning suggestions</a:t>
            </a:r>
            <a:r>
              <a:rPr lang="en-US" sz="2000" dirty="0"/>
              <a:t> using IBM Granite.</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p:cNvSpPr/>
          <p:nvPr/>
        </p:nvSpPr>
        <p:spPr>
          <a:xfrm>
            <a:off x="1218724" y="3829113"/>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endParaRPr dirty="0"/>
          </a:p>
        </p:txBody>
      </p:sp>
      <p:pic>
        <p:nvPicPr>
          <p:cNvPr id="3" name="Picture 2">
            <a:extLst>
              <a:ext uri="{FF2B5EF4-FFF2-40B4-BE49-F238E27FC236}">
                <a16:creationId xmlns:a16="http://schemas.microsoft.com/office/drawing/2014/main" id="{676BD740-4294-408A-9014-7C75E9F50954}"/>
              </a:ext>
            </a:extLst>
          </p:cNvPr>
          <p:cNvPicPr>
            <a:picLocks noChangeAspect="1"/>
          </p:cNvPicPr>
          <p:nvPr/>
        </p:nvPicPr>
        <p:blipFill>
          <a:blip r:embed="rId3"/>
          <a:stretch>
            <a:fillRect/>
          </a:stretch>
        </p:blipFill>
        <p:spPr>
          <a:xfrm>
            <a:off x="335797" y="6315517"/>
            <a:ext cx="11520407" cy="310052"/>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9" name="Google Shape;179;p7"/>
          <p:cNvSpPr txBox="1"/>
          <p:nvPr/>
        </p:nvSpPr>
        <p:spPr>
          <a:xfrm>
            <a:off x="1003545" y="364352"/>
            <a:ext cx="8207828" cy="461624"/>
          </a:xfrm>
          <a:prstGeom prst="rect">
            <a:avLst/>
          </a:prstGeom>
          <a:noFill/>
          <a:ln>
            <a:noFill/>
          </a:ln>
        </p:spPr>
        <p:txBody>
          <a:bodyPr spcFirstLastPara="1" wrap="square" lIns="91425" tIns="45700" rIns="91425" bIns="45700" anchor="t" anchorCtr="0">
            <a:spAutoFit/>
          </a:bodyPr>
          <a:lstStyle/>
          <a:p>
            <a:pPr algn="ctr"/>
            <a:r>
              <a:rPr lang="en-US" sz="2400" b="1" dirty="0">
                <a:solidFill>
                  <a:schemeClr val="dk1"/>
                </a:solidFill>
                <a:ea typeface="Calibri"/>
                <a:cs typeface="Calibri"/>
                <a:sym typeface="Calibri"/>
              </a:rPr>
              <a:t>Technical flow diagram - Architecture</a:t>
            </a:r>
            <a:r>
              <a:rPr lang="en-US" sz="2400" b="1" i="0" u="none" strike="noStrike" cap="none" dirty="0">
                <a:solidFill>
                  <a:schemeClr val="dk1"/>
                </a:solidFill>
                <a:ea typeface="Calibri"/>
                <a:cs typeface="Calibri"/>
                <a:sym typeface="Calibri"/>
              </a:rPr>
              <a:t> blueprint</a:t>
            </a:r>
            <a:endParaRPr lang="en-US" sz="2400" b="1">
              <a:solidFill>
                <a:schemeClr val="dk1"/>
              </a:solidFill>
            </a:endParaRPr>
          </a:p>
        </p:txBody>
      </p:sp>
      <p:pic>
        <p:nvPicPr>
          <p:cNvPr id="3" name="Picture 2">
            <a:extLst>
              <a:ext uri="{FF2B5EF4-FFF2-40B4-BE49-F238E27FC236}">
                <a16:creationId xmlns:a16="http://schemas.microsoft.com/office/drawing/2014/main" id="{13F004CF-732B-B365-E320-17AD7B82A8D0}"/>
              </a:ext>
            </a:extLst>
          </p:cNvPr>
          <p:cNvPicPr>
            <a:picLocks noChangeAspect="1"/>
          </p:cNvPicPr>
          <p:nvPr/>
        </p:nvPicPr>
        <p:blipFill>
          <a:blip r:embed="rId3"/>
          <a:stretch>
            <a:fillRect/>
          </a:stretch>
        </p:blipFill>
        <p:spPr>
          <a:xfrm>
            <a:off x="335797" y="6315517"/>
            <a:ext cx="11520407" cy="310052"/>
          </a:xfrm>
          <a:prstGeom prst="rect">
            <a:avLst/>
          </a:prstGeom>
        </p:spPr>
      </p:pic>
      <p:pic>
        <p:nvPicPr>
          <p:cNvPr id="4" name="Picture 3">
            <a:extLst>
              <a:ext uri="{FF2B5EF4-FFF2-40B4-BE49-F238E27FC236}">
                <a16:creationId xmlns:a16="http://schemas.microsoft.com/office/drawing/2014/main" id="{9EA322CA-9F11-93A7-7068-505CE4F7A2D4}"/>
              </a:ext>
            </a:extLst>
          </p:cNvPr>
          <p:cNvPicPr>
            <a:picLocks noChangeAspect="1"/>
          </p:cNvPicPr>
          <p:nvPr/>
        </p:nvPicPr>
        <p:blipFill>
          <a:blip r:embed="rId4"/>
          <a:stretch>
            <a:fillRect/>
          </a:stretch>
        </p:blipFill>
        <p:spPr>
          <a:xfrm>
            <a:off x="2222156" y="1012898"/>
            <a:ext cx="6858000" cy="5115697"/>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i="0" u="none" strike="noStrike" cap="none" err="1">
                <a:solidFill>
                  <a:srgbClr val="051D3A"/>
                </a:solidFill>
                <a:ea typeface="Times New Roman"/>
                <a:cs typeface="Times New Roman"/>
                <a:sym typeface="Times New Roman"/>
              </a:rPr>
              <a:t>Langflow</a:t>
            </a:r>
            <a:r>
              <a:rPr lang="en-US" sz="2400" b="1" i="0" u="none" strike="noStrike" cap="none" dirty="0">
                <a:solidFill>
                  <a:srgbClr val="051D3A"/>
                </a:solidFill>
                <a:ea typeface="Times New Roman"/>
                <a:cs typeface="Times New Roman"/>
                <a:sym typeface="Times New Roman"/>
              </a:rPr>
              <a:t> component Used </a:t>
            </a:r>
            <a:endParaRPr lang="en-US" sz="2400" b="1" i="0" u="none" strike="noStrike" cap="none">
              <a:solidFill>
                <a:srgbClr val="000000"/>
              </a:solidFill>
              <a:ea typeface="Times New Roman"/>
              <a:cs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BB86949-7ED1-C43B-B1E3-5122BB67A596}"/>
              </a:ext>
            </a:extLst>
          </p:cNvPr>
          <p:cNvSpPr txBox="1"/>
          <p:nvPr/>
        </p:nvSpPr>
        <p:spPr>
          <a:xfrm>
            <a:off x="621792" y="1389888"/>
            <a:ext cx="10199204" cy="2893100"/>
          </a:xfrm>
          <a:prstGeom prst="rect">
            <a:avLst/>
          </a:prstGeom>
          <a:noFill/>
        </p:spPr>
        <p:txBody>
          <a:bodyPr wrap="square" rtlCol="0">
            <a:spAutoFit/>
          </a:bodyPr>
          <a:lstStyle/>
          <a:p>
            <a:r>
              <a:rPr lang="en-US" dirty="0"/>
              <a:t>• </a:t>
            </a:r>
            <a:r>
              <a:rPr lang="en-US" b="1" dirty="0"/>
              <a:t>Chat Input</a:t>
            </a:r>
            <a:r>
              <a:rPr lang="en-US" dirty="0"/>
              <a:t> : Collects crop, yield, weather, and soil details from the user..</a:t>
            </a:r>
          </a:p>
          <a:p>
            <a:endParaRPr lang="en-US" dirty="0"/>
          </a:p>
          <a:p>
            <a:r>
              <a:rPr lang="en-US" dirty="0"/>
              <a:t>• </a:t>
            </a:r>
            <a:r>
              <a:rPr lang="en-US" b="1" dirty="0"/>
              <a:t>IBM </a:t>
            </a:r>
            <a:r>
              <a:rPr lang="en-US" b="1" dirty="0" err="1"/>
              <a:t>Watsonx</a:t>
            </a:r>
            <a:r>
              <a:rPr lang="en-US" b="1" dirty="0"/>
              <a:t> AI Agent (Granite Model)</a:t>
            </a:r>
            <a:r>
              <a:rPr lang="en-US" dirty="0"/>
              <a:t>: Analyzes data, detects trends, and generates planning insights.</a:t>
            </a:r>
          </a:p>
          <a:p>
            <a:endParaRPr lang="en-US" dirty="0"/>
          </a:p>
          <a:p>
            <a:r>
              <a:rPr lang="en-US" dirty="0"/>
              <a:t>• </a:t>
            </a:r>
            <a:r>
              <a:rPr lang="en-US" b="1" dirty="0"/>
              <a:t>Chat Output: </a:t>
            </a:r>
            <a:r>
              <a:rPr lang="en-US" dirty="0"/>
              <a:t>Displays yield trends, correlations, and farm planning suggestions.</a:t>
            </a:r>
          </a:p>
          <a:p>
            <a:endParaRPr lang="en-US" dirty="0"/>
          </a:p>
          <a:p>
            <a:endParaRPr lang="en-US" dirty="0"/>
          </a:p>
          <a:p>
            <a:endParaRPr lang="en-US" dirty="0"/>
          </a:p>
          <a:p>
            <a:endParaRPr lang="en-US" dirty="0"/>
          </a:p>
          <a:p>
            <a:endParaRPr lang="en-US" dirty="0"/>
          </a:p>
          <a:p>
            <a:endParaRPr lang="en-US" dirty="0"/>
          </a:p>
          <a:p>
            <a:endParaRPr lang="en-US" dirty="0"/>
          </a:p>
          <a:p>
            <a:r>
              <a:rPr lang="en-US" dirty="0"/>
              <a:t> </a:t>
            </a:r>
            <a:endParaRPr lang="en-IN" dirty="0"/>
          </a:p>
        </p:txBody>
      </p:sp>
      <p:pic>
        <p:nvPicPr>
          <p:cNvPr id="4" name="Picture 3">
            <a:extLst>
              <a:ext uri="{FF2B5EF4-FFF2-40B4-BE49-F238E27FC236}">
                <a16:creationId xmlns:a16="http://schemas.microsoft.com/office/drawing/2014/main" id="{F55A7959-9FC6-1DAE-7A47-36165450EF19}"/>
              </a:ext>
            </a:extLst>
          </p:cNvPr>
          <p:cNvPicPr>
            <a:picLocks noChangeAspect="1"/>
          </p:cNvPicPr>
          <p:nvPr/>
        </p:nvPicPr>
        <p:blipFill>
          <a:blip r:embed="rId3"/>
          <a:stretch>
            <a:fillRect/>
          </a:stretch>
        </p:blipFill>
        <p:spPr>
          <a:xfrm>
            <a:off x="335797" y="6315517"/>
            <a:ext cx="11520407" cy="310052"/>
          </a:xfrm>
          <a:prstGeom prst="rect">
            <a:avLst/>
          </a:prstGeom>
        </p:spPr>
      </p:pic>
    </p:spTree>
    <p:extLst>
      <p:ext uri="{BB962C8B-B14F-4D97-AF65-F5344CB8AC3E}">
        <p14:creationId xmlns:p14="http://schemas.microsoft.com/office/powerpoint/2010/main" val="3285263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8079FEC-4447-C4FA-64A4-CB532564DAF6}"/>
              </a:ext>
            </a:extLst>
          </p:cNvPr>
          <p:cNvSpPr txBox="1"/>
          <p:nvPr/>
        </p:nvSpPr>
        <p:spPr>
          <a:xfrm>
            <a:off x="838779" y="200739"/>
            <a:ext cx="4684069"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Input Screenshot 1 </a:t>
            </a:r>
            <a:endParaRPr lang="en-US" dirty="0"/>
          </a:p>
        </p:txBody>
      </p:sp>
      <p:pic>
        <p:nvPicPr>
          <p:cNvPr id="5" name="Picture 4">
            <a:extLst>
              <a:ext uri="{FF2B5EF4-FFF2-40B4-BE49-F238E27FC236}">
                <a16:creationId xmlns:a16="http://schemas.microsoft.com/office/drawing/2014/main" id="{073ADE60-811A-97E9-24FE-F2F7F61FA469}"/>
              </a:ext>
            </a:extLst>
          </p:cNvPr>
          <p:cNvPicPr>
            <a:picLocks noChangeAspect="1"/>
          </p:cNvPicPr>
          <p:nvPr/>
        </p:nvPicPr>
        <p:blipFill>
          <a:blip r:embed="rId3"/>
          <a:stretch>
            <a:fillRect/>
          </a:stretch>
        </p:blipFill>
        <p:spPr>
          <a:xfrm>
            <a:off x="335797" y="6315517"/>
            <a:ext cx="11520407" cy="310052"/>
          </a:xfrm>
          <a:prstGeom prst="rect">
            <a:avLst/>
          </a:prstGeom>
        </p:spPr>
      </p:pic>
      <p:pic>
        <p:nvPicPr>
          <p:cNvPr id="6" name="Picture 5">
            <a:extLst>
              <a:ext uri="{FF2B5EF4-FFF2-40B4-BE49-F238E27FC236}">
                <a16:creationId xmlns:a16="http://schemas.microsoft.com/office/drawing/2014/main" id="{828775DD-9575-9648-E57F-EF6C3B1E6E75}"/>
              </a:ext>
            </a:extLst>
          </p:cNvPr>
          <p:cNvPicPr>
            <a:picLocks noChangeAspect="1"/>
          </p:cNvPicPr>
          <p:nvPr/>
        </p:nvPicPr>
        <p:blipFill>
          <a:blip r:embed="rId4"/>
          <a:stretch>
            <a:fillRect/>
          </a:stretch>
        </p:blipFill>
        <p:spPr>
          <a:xfrm>
            <a:off x="951782" y="864974"/>
            <a:ext cx="10288436" cy="5165124"/>
          </a:xfrm>
          <a:prstGeom prst="rect">
            <a:avLst/>
          </a:prstGeom>
        </p:spPr>
      </p:pic>
    </p:spTree>
    <p:extLst>
      <p:ext uri="{BB962C8B-B14F-4D97-AF65-F5344CB8AC3E}">
        <p14:creationId xmlns:p14="http://schemas.microsoft.com/office/powerpoint/2010/main" val="27725019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9E2832E4-AC39-7A49-D4B6-C1A4B148ECF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D23FCBA-FC00-378F-C117-12DC1F4FD6E0}"/>
              </a:ext>
            </a:extLst>
          </p:cNvPr>
          <p:cNvSpPr txBox="1"/>
          <p:nvPr/>
        </p:nvSpPr>
        <p:spPr>
          <a:xfrm>
            <a:off x="1065320" y="138955"/>
            <a:ext cx="5466663"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Input Screenshot 2</a:t>
            </a:r>
          </a:p>
        </p:txBody>
      </p:sp>
      <p:pic>
        <p:nvPicPr>
          <p:cNvPr id="5" name="Picture 4">
            <a:extLst>
              <a:ext uri="{FF2B5EF4-FFF2-40B4-BE49-F238E27FC236}">
                <a16:creationId xmlns:a16="http://schemas.microsoft.com/office/drawing/2014/main" id="{C9B59E40-7B3E-CFB4-3FD9-6C10E068F0AF}"/>
              </a:ext>
            </a:extLst>
          </p:cNvPr>
          <p:cNvPicPr>
            <a:picLocks noChangeAspect="1"/>
          </p:cNvPicPr>
          <p:nvPr/>
        </p:nvPicPr>
        <p:blipFill>
          <a:blip r:embed="rId3"/>
          <a:stretch>
            <a:fillRect/>
          </a:stretch>
        </p:blipFill>
        <p:spPr>
          <a:xfrm>
            <a:off x="335797" y="6315517"/>
            <a:ext cx="11520407" cy="310052"/>
          </a:xfrm>
          <a:prstGeom prst="rect">
            <a:avLst/>
          </a:prstGeom>
        </p:spPr>
      </p:pic>
      <p:pic>
        <p:nvPicPr>
          <p:cNvPr id="6" name="Picture 5">
            <a:extLst>
              <a:ext uri="{FF2B5EF4-FFF2-40B4-BE49-F238E27FC236}">
                <a16:creationId xmlns:a16="http://schemas.microsoft.com/office/drawing/2014/main" id="{95685E7B-50BE-D647-34D0-D7B116DA8EFC}"/>
              </a:ext>
            </a:extLst>
          </p:cNvPr>
          <p:cNvPicPr>
            <a:picLocks noChangeAspect="1"/>
          </p:cNvPicPr>
          <p:nvPr/>
        </p:nvPicPr>
        <p:blipFill>
          <a:blip r:embed="rId4"/>
          <a:stretch>
            <a:fillRect/>
          </a:stretch>
        </p:blipFill>
        <p:spPr>
          <a:xfrm>
            <a:off x="2280705" y="2552577"/>
            <a:ext cx="7630590" cy="1752845"/>
          </a:xfrm>
          <a:prstGeom prst="rect">
            <a:avLst/>
          </a:prstGeom>
        </p:spPr>
      </p:pic>
    </p:spTree>
    <p:extLst>
      <p:ext uri="{BB962C8B-B14F-4D97-AF65-F5344CB8AC3E}">
        <p14:creationId xmlns:p14="http://schemas.microsoft.com/office/powerpoint/2010/main" val="7950437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41ACF88B-2F75-CE59-3114-C1537EDD659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FE5FD7-2292-570F-1397-1E9287F8CB9D}"/>
              </a:ext>
            </a:extLst>
          </p:cNvPr>
          <p:cNvSpPr txBox="1"/>
          <p:nvPr/>
        </p:nvSpPr>
        <p:spPr>
          <a:xfrm>
            <a:off x="1065320" y="138955"/>
            <a:ext cx="5260717"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Output Screenshot 1</a:t>
            </a:r>
            <a:endParaRPr lang="en-US" dirty="0"/>
          </a:p>
        </p:txBody>
      </p:sp>
      <p:pic>
        <p:nvPicPr>
          <p:cNvPr id="5" name="Picture 4">
            <a:extLst>
              <a:ext uri="{FF2B5EF4-FFF2-40B4-BE49-F238E27FC236}">
                <a16:creationId xmlns:a16="http://schemas.microsoft.com/office/drawing/2014/main" id="{A9872FD1-7A0B-E5B9-638C-B95C4CCFE94C}"/>
              </a:ext>
            </a:extLst>
          </p:cNvPr>
          <p:cNvPicPr>
            <a:picLocks noChangeAspect="1"/>
          </p:cNvPicPr>
          <p:nvPr/>
        </p:nvPicPr>
        <p:blipFill>
          <a:blip r:embed="rId3"/>
          <a:stretch>
            <a:fillRect/>
          </a:stretch>
        </p:blipFill>
        <p:spPr>
          <a:xfrm>
            <a:off x="335797" y="6315517"/>
            <a:ext cx="11520407" cy="310052"/>
          </a:xfrm>
          <a:prstGeom prst="rect">
            <a:avLst/>
          </a:prstGeom>
        </p:spPr>
      </p:pic>
      <p:pic>
        <p:nvPicPr>
          <p:cNvPr id="6" name="Picture 5">
            <a:extLst>
              <a:ext uri="{FF2B5EF4-FFF2-40B4-BE49-F238E27FC236}">
                <a16:creationId xmlns:a16="http://schemas.microsoft.com/office/drawing/2014/main" id="{D5D1BACB-76F9-35FF-8B45-02FE2658464F}"/>
              </a:ext>
            </a:extLst>
          </p:cNvPr>
          <p:cNvPicPr>
            <a:picLocks noChangeAspect="1"/>
          </p:cNvPicPr>
          <p:nvPr/>
        </p:nvPicPr>
        <p:blipFill>
          <a:blip r:embed="rId4"/>
          <a:stretch>
            <a:fillRect/>
          </a:stretch>
        </p:blipFill>
        <p:spPr>
          <a:xfrm>
            <a:off x="0" y="582827"/>
            <a:ext cx="12192000" cy="5692346"/>
          </a:xfrm>
          <a:prstGeom prst="rect">
            <a:avLst/>
          </a:prstGeom>
        </p:spPr>
      </p:pic>
    </p:spTree>
    <p:extLst>
      <p:ext uri="{BB962C8B-B14F-4D97-AF65-F5344CB8AC3E}">
        <p14:creationId xmlns:p14="http://schemas.microsoft.com/office/powerpoint/2010/main" val="11356843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264DB916-9D11-8CF6-1773-B8BB5C957B1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95E873E-21D6-4A99-47BD-F28FC42E2047}"/>
              </a:ext>
            </a:extLst>
          </p:cNvPr>
          <p:cNvSpPr txBox="1"/>
          <p:nvPr/>
        </p:nvSpPr>
        <p:spPr>
          <a:xfrm>
            <a:off x="1065320" y="138955"/>
            <a:ext cx="5260717"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Output Screenshot 2</a:t>
            </a:r>
            <a:endParaRPr lang="en-US" dirty="0"/>
          </a:p>
        </p:txBody>
      </p:sp>
      <p:pic>
        <p:nvPicPr>
          <p:cNvPr id="5" name="Picture 4">
            <a:extLst>
              <a:ext uri="{FF2B5EF4-FFF2-40B4-BE49-F238E27FC236}">
                <a16:creationId xmlns:a16="http://schemas.microsoft.com/office/drawing/2014/main" id="{62A2C8BC-759C-7366-3206-89BFCE1B221F}"/>
              </a:ext>
            </a:extLst>
          </p:cNvPr>
          <p:cNvPicPr>
            <a:picLocks noChangeAspect="1"/>
          </p:cNvPicPr>
          <p:nvPr/>
        </p:nvPicPr>
        <p:blipFill>
          <a:blip r:embed="rId3"/>
          <a:stretch>
            <a:fillRect/>
          </a:stretch>
        </p:blipFill>
        <p:spPr>
          <a:xfrm>
            <a:off x="335797" y="6315517"/>
            <a:ext cx="11520407" cy="310052"/>
          </a:xfrm>
          <a:prstGeom prst="rect">
            <a:avLst/>
          </a:prstGeom>
        </p:spPr>
      </p:pic>
      <p:pic>
        <p:nvPicPr>
          <p:cNvPr id="4" name="Picture 3">
            <a:extLst>
              <a:ext uri="{FF2B5EF4-FFF2-40B4-BE49-F238E27FC236}">
                <a16:creationId xmlns:a16="http://schemas.microsoft.com/office/drawing/2014/main" id="{80390736-95F9-D501-CBA5-142464C491B7}"/>
              </a:ext>
            </a:extLst>
          </p:cNvPr>
          <p:cNvPicPr>
            <a:picLocks noChangeAspect="1"/>
          </p:cNvPicPr>
          <p:nvPr/>
        </p:nvPicPr>
        <p:blipFill>
          <a:blip r:embed="rId4"/>
          <a:stretch>
            <a:fillRect/>
          </a:stretch>
        </p:blipFill>
        <p:spPr>
          <a:xfrm>
            <a:off x="335796" y="692510"/>
            <a:ext cx="11885035" cy="5337587"/>
          </a:xfrm>
          <a:prstGeom prst="rect">
            <a:avLst/>
          </a:prstGeom>
        </p:spPr>
      </p:pic>
    </p:spTree>
    <p:extLst>
      <p:ext uri="{BB962C8B-B14F-4D97-AF65-F5344CB8AC3E}">
        <p14:creationId xmlns:p14="http://schemas.microsoft.com/office/powerpoint/2010/main" val="9435248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5838F091-0014-6AB2-D2EE-81C735D1BEE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F9D04B6-7646-B3BF-9A84-684A467FADAB}"/>
              </a:ext>
            </a:extLst>
          </p:cNvPr>
          <p:cNvSpPr txBox="1"/>
          <p:nvPr/>
        </p:nvSpPr>
        <p:spPr>
          <a:xfrm>
            <a:off x="1219779" y="200739"/>
            <a:ext cx="4622285"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Output Screenshot 3</a:t>
            </a:r>
            <a:endParaRPr lang="en-US" dirty="0"/>
          </a:p>
        </p:txBody>
      </p:sp>
      <p:pic>
        <p:nvPicPr>
          <p:cNvPr id="5" name="Picture 4">
            <a:extLst>
              <a:ext uri="{FF2B5EF4-FFF2-40B4-BE49-F238E27FC236}">
                <a16:creationId xmlns:a16="http://schemas.microsoft.com/office/drawing/2014/main" id="{BF314CEB-36A0-2FF5-7F53-C10C910CAB03}"/>
              </a:ext>
            </a:extLst>
          </p:cNvPr>
          <p:cNvPicPr>
            <a:picLocks noChangeAspect="1"/>
          </p:cNvPicPr>
          <p:nvPr/>
        </p:nvPicPr>
        <p:blipFill>
          <a:blip r:embed="rId3"/>
          <a:stretch>
            <a:fillRect/>
          </a:stretch>
        </p:blipFill>
        <p:spPr>
          <a:xfrm>
            <a:off x="335797" y="6315517"/>
            <a:ext cx="11520407" cy="310052"/>
          </a:xfrm>
          <a:prstGeom prst="rect">
            <a:avLst/>
          </a:prstGeom>
        </p:spPr>
      </p:pic>
      <p:pic>
        <p:nvPicPr>
          <p:cNvPr id="6" name="Picture 5">
            <a:extLst>
              <a:ext uri="{FF2B5EF4-FFF2-40B4-BE49-F238E27FC236}">
                <a16:creationId xmlns:a16="http://schemas.microsoft.com/office/drawing/2014/main" id="{73BEC830-CA29-5865-86BD-1020F102CBE2}"/>
              </a:ext>
            </a:extLst>
          </p:cNvPr>
          <p:cNvPicPr>
            <a:picLocks noChangeAspect="1"/>
          </p:cNvPicPr>
          <p:nvPr/>
        </p:nvPicPr>
        <p:blipFill>
          <a:blip r:embed="rId4"/>
          <a:stretch>
            <a:fillRect/>
          </a:stretch>
        </p:blipFill>
        <p:spPr>
          <a:xfrm>
            <a:off x="335797" y="662404"/>
            <a:ext cx="11221103" cy="5417355"/>
          </a:xfrm>
          <a:prstGeom prst="rect">
            <a:avLst/>
          </a:prstGeom>
        </p:spPr>
      </p:pic>
    </p:spTree>
    <p:extLst>
      <p:ext uri="{BB962C8B-B14F-4D97-AF65-F5344CB8AC3E}">
        <p14:creationId xmlns:p14="http://schemas.microsoft.com/office/powerpoint/2010/main" val="11388411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3500" b="1" i="0" u="none" strike="noStrike" cap="none" dirty="0">
                <a:solidFill>
                  <a:srgbClr val="051D3A"/>
                </a:solidFill>
                <a:latin typeface="Times New Roman"/>
                <a:ea typeface="Times New Roman"/>
                <a:cs typeface="Times New Roman"/>
                <a:sym typeface="Times New Roman"/>
              </a:rPr>
              <a:t>Future Scope </a:t>
            </a:r>
            <a:endParaRPr sz="3500" b="1" i="0" u="none" strike="noStrike" cap="none" dirty="0">
              <a:solidFill>
                <a:srgbClr val="000000"/>
              </a:solidFill>
              <a:latin typeface="Times New Roman"/>
              <a:ea typeface="Times New Roman"/>
              <a:cs typeface="Times New Roman"/>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777260" y="1507275"/>
            <a:ext cx="10637480" cy="4277001"/>
          </a:xfrm>
          <a:prstGeom prst="rect">
            <a:avLst/>
          </a:prstGeom>
          <a:noFill/>
          <a:ln>
            <a:noFill/>
          </a:ln>
        </p:spPr>
        <p:txBody>
          <a:bodyPr spcFirstLastPara="1" wrap="square" lIns="0" tIns="0" rIns="0" bIns="0" anchor="t" anchorCtr="0">
            <a:noAutofit/>
          </a:bodyPr>
          <a:lstStyle/>
          <a:p>
            <a:pPr marL="342900" lvl="0" indent="-342900">
              <a:lnSpc>
                <a:spcPct val="162162"/>
              </a:lnSpc>
              <a:buClr>
                <a:srgbClr val="2B3541"/>
              </a:buClr>
              <a:buSzPts val="1850"/>
              <a:buFont typeface="Arial" panose="020B0604020202020204" pitchFamily="34" charset="0"/>
              <a:buChar char="•"/>
            </a:pPr>
            <a:r>
              <a:rPr lang="en-US" sz="2000" dirty="0"/>
              <a:t>Enhancement of the AI system with </a:t>
            </a:r>
            <a:r>
              <a:rPr lang="en-US" sz="2000" b="1" dirty="0"/>
              <a:t>predictive analytics and machine learning models</a:t>
            </a:r>
            <a:r>
              <a:rPr lang="en-US" sz="2000" dirty="0"/>
              <a:t> for long-term farm planning and productivity improvement.</a:t>
            </a:r>
          </a:p>
          <a:p>
            <a:pPr marL="342900" lvl="0" indent="-342900">
              <a:lnSpc>
                <a:spcPct val="162162"/>
              </a:lnSpc>
              <a:buClr>
                <a:srgbClr val="2B3541"/>
              </a:buClr>
              <a:buSzPts val="1850"/>
              <a:buFont typeface="Arial" panose="020B0604020202020204" pitchFamily="34" charset="0"/>
              <a:buChar char="•"/>
            </a:pPr>
            <a:endParaRPr lang="en-US" sz="2000" dirty="0"/>
          </a:p>
          <a:p>
            <a:pPr marL="342900" lvl="0" indent="-342900">
              <a:lnSpc>
                <a:spcPct val="162162"/>
              </a:lnSpc>
              <a:buClr>
                <a:srgbClr val="2B3541"/>
              </a:buClr>
              <a:buSzPts val="1850"/>
              <a:buFont typeface="Arial" panose="020B0604020202020204" pitchFamily="34" charset="0"/>
              <a:buChar char="•"/>
            </a:pPr>
            <a:r>
              <a:rPr lang="en-US" sz="2000" dirty="0"/>
              <a:t>Expansion of the system to support </a:t>
            </a:r>
            <a:r>
              <a:rPr lang="en-US" sz="2000" b="1" dirty="0"/>
              <a:t>large-scale agricultural planning</a:t>
            </a:r>
            <a:r>
              <a:rPr lang="en-US" sz="2000" dirty="0"/>
              <a:t> for organizations and government bodies.</a:t>
            </a:r>
          </a:p>
          <a:p>
            <a:pPr marL="342900" lvl="0" indent="-342900">
              <a:lnSpc>
                <a:spcPct val="162162"/>
              </a:lnSpc>
              <a:buClr>
                <a:srgbClr val="2B3541"/>
              </a:buClr>
              <a:buSzPts val="1850"/>
              <a:buFont typeface="Arial" panose="020B0604020202020204" pitchFamily="34" charset="0"/>
              <a:buChar char="•"/>
            </a:pPr>
            <a:endParaRPr lang="en-US" sz="2000" dirty="0"/>
          </a:p>
          <a:p>
            <a:pPr marL="342900" lvl="0" indent="-342900">
              <a:lnSpc>
                <a:spcPct val="162162"/>
              </a:lnSpc>
              <a:buClr>
                <a:srgbClr val="2B3541"/>
              </a:buClr>
              <a:buSzPts val="1850"/>
              <a:buFont typeface="Arial" panose="020B0604020202020204" pitchFamily="34" charset="0"/>
              <a:buChar char="•"/>
            </a:pPr>
            <a:r>
              <a:rPr lang="en-US" sz="2000" dirty="0"/>
              <a:t>Integration of </a:t>
            </a:r>
            <a:r>
              <a:rPr lang="en-US" sz="2000" b="1" dirty="0"/>
              <a:t>IoT sensors</a:t>
            </a:r>
            <a:r>
              <a:rPr lang="en-US" sz="2000" dirty="0"/>
              <a:t> to automatically collect real-time soil moisture, temperature, and weather data from farms.</a:t>
            </a:r>
            <a:br>
              <a:rPr lang="en-US" sz="2000" dirty="0"/>
            </a:br>
            <a:r>
              <a:rPr lang="en-US" sz="2000" dirty="0"/>
              <a:t> </a:t>
            </a: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pic>
        <p:nvPicPr>
          <p:cNvPr id="3" name="Picture 2">
            <a:extLst>
              <a:ext uri="{FF2B5EF4-FFF2-40B4-BE49-F238E27FC236}">
                <a16:creationId xmlns:a16="http://schemas.microsoft.com/office/drawing/2014/main" id="{B96DCFED-2C83-7A17-CDB2-A4F4D4BBD1D5}"/>
              </a:ext>
            </a:extLst>
          </p:cNvPr>
          <p:cNvPicPr>
            <a:picLocks noChangeAspect="1"/>
          </p:cNvPicPr>
          <p:nvPr/>
        </p:nvPicPr>
        <p:blipFill>
          <a:blip r:embed="rId3"/>
          <a:stretch>
            <a:fillRect/>
          </a:stretch>
        </p:blipFill>
        <p:spPr>
          <a:xfrm>
            <a:off x="335797" y="6315517"/>
            <a:ext cx="11520407" cy="310052"/>
          </a:xfrm>
          <a:prstGeom prst="rect">
            <a:avLst/>
          </a:prstGeom>
        </p:spPr>
      </p:pic>
    </p:spTree>
    <p:extLst>
      <p:ext uri="{BB962C8B-B14F-4D97-AF65-F5344CB8AC3E}">
        <p14:creationId xmlns:p14="http://schemas.microsoft.com/office/powerpoint/2010/main" val="21367067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D62F03A8-A8A8-CB93-006E-7173DC866F6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3500" b="1" i="0" u="none" strike="noStrike" cap="none" dirty="0">
                <a:solidFill>
                  <a:srgbClr val="051D3A"/>
                </a:solidFill>
                <a:latin typeface="Times New Roman"/>
                <a:ea typeface="Times New Roman"/>
                <a:cs typeface="Times New Roman"/>
                <a:sym typeface="Times New Roman"/>
              </a:rPr>
              <a:t>Git Hub Link</a:t>
            </a:r>
            <a:endParaRPr sz="3500" b="1" i="0" u="none" strike="noStrike" cap="none" dirty="0">
              <a:solidFill>
                <a:srgbClr val="000000"/>
              </a:solidFill>
              <a:latin typeface="Times New Roman"/>
              <a:ea typeface="Times New Roman"/>
              <a:cs typeface="Times New Roman"/>
              <a:sym typeface="Times New Roman"/>
            </a:endParaRPr>
          </a:p>
        </p:txBody>
      </p:sp>
      <p:sp>
        <p:nvSpPr>
          <p:cNvPr id="279" name="Google Shape;279;p18">
            <a:extLst>
              <a:ext uri="{FF2B5EF4-FFF2-40B4-BE49-F238E27FC236}">
                <a16:creationId xmlns:a16="http://schemas.microsoft.com/office/drawing/2014/main" id="{15507A2F-9304-7475-5C74-2BAA93879CFE}"/>
              </a:ext>
            </a:extLst>
          </p:cNvPr>
          <p:cNvSpPr/>
          <p:nvPr/>
        </p:nvSpPr>
        <p:spPr>
          <a:xfrm>
            <a:off x="763748" y="1345224"/>
            <a:ext cx="1036969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 Please create public </a:t>
            </a:r>
            <a:r>
              <a:rPr lang="en-US" sz="1850" b="0" i="0" u="none" strike="noStrike" cap="none" dirty="0" err="1">
                <a:solidFill>
                  <a:srgbClr val="2B3541"/>
                </a:solidFill>
                <a:latin typeface="Times New Roman"/>
                <a:ea typeface="Times New Roman"/>
                <a:cs typeface="Times New Roman"/>
                <a:sym typeface="Times New Roman"/>
              </a:rPr>
              <a:t>github</a:t>
            </a:r>
            <a:r>
              <a:rPr lang="en-US" sz="1850" b="0" i="0" u="none" strike="noStrike" cap="none" dirty="0">
                <a:solidFill>
                  <a:srgbClr val="2B3541"/>
                </a:solidFill>
                <a:latin typeface="Times New Roman"/>
                <a:ea typeface="Times New Roman"/>
                <a:cs typeface="Times New Roman"/>
                <a:sym typeface="Times New Roman"/>
              </a:rPr>
              <a:t> repository (Enable Add README  button while creating repository) with format – </a:t>
            </a:r>
          </a:p>
          <a:p>
            <a:pPr lvl="0">
              <a:lnSpc>
                <a:spcPct val="162162"/>
              </a:lnSpc>
              <a:buClr>
                <a:srgbClr val="2B3541"/>
              </a:buClr>
              <a:buSzPts val="1850"/>
            </a:pPr>
            <a:r>
              <a:rPr lang="en-US" sz="1850" dirty="0">
                <a:solidFill>
                  <a:srgbClr val="2B3541"/>
                </a:solidFill>
                <a:latin typeface="Times New Roman"/>
                <a:ea typeface="Times New Roman"/>
                <a:cs typeface="Times New Roman"/>
                <a:sym typeface="Times New Roman"/>
              </a:rPr>
              <a:t>Please test and Paste the working  </a:t>
            </a:r>
            <a:r>
              <a:rPr lang="en-US" sz="1850" dirty="0" err="1">
                <a:solidFill>
                  <a:srgbClr val="2B3541"/>
                </a:solidFill>
                <a:latin typeface="Times New Roman"/>
                <a:ea typeface="Times New Roman"/>
                <a:cs typeface="Times New Roman"/>
                <a:sym typeface="Times New Roman"/>
              </a:rPr>
              <a:t>Github</a:t>
            </a:r>
            <a:r>
              <a:rPr lang="en-US" sz="1850" dirty="0">
                <a:solidFill>
                  <a:srgbClr val="2B3541"/>
                </a:solidFill>
                <a:latin typeface="Times New Roman"/>
                <a:ea typeface="Times New Roman"/>
                <a:cs typeface="Times New Roman"/>
                <a:sym typeface="Times New Roman"/>
              </a:rPr>
              <a:t> URL – </a:t>
            </a:r>
            <a:r>
              <a:rPr lang="en-US" sz="1850" dirty="0">
                <a:solidFill>
                  <a:srgbClr val="2B3541"/>
                </a:solidFill>
                <a:latin typeface="Times New Roman"/>
                <a:ea typeface="Times New Roman"/>
                <a:cs typeface="Times New Roman"/>
                <a:sym typeface="Times New Roman"/>
                <a:hlinkClick r:id="rId3"/>
              </a:rPr>
              <a:t>https://github.com/bhaskars-17/charlie-flint.git</a:t>
            </a:r>
            <a:endParaRPr lang="en-US" sz="1850" dirty="0">
              <a:solidFill>
                <a:srgbClr val="2B3541"/>
              </a:solidFill>
              <a:latin typeface="Times New Roman"/>
              <a:ea typeface="Times New Roman"/>
              <a:cs typeface="Times New Roman"/>
              <a:sym typeface="Times New Roman"/>
            </a:endParaRPr>
          </a:p>
          <a:p>
            <a:pPr lvl="0">
              <a:lnSpc>
                <a:spcPct val="162162"/>
              </a:lnSpc>
              <a:buClr>
                <a:srgbClr val="2B3541"/>
              </a:buClr>
              <a:buSzPts val="1850"/>
            </a:pPr>
            <a:r>
              <a:rPr lang="en-US" sz="1850" b="1" dirty="0">
                <a:solidFill>
                  <a:srgbClr val="2B3541"/>
                </a:solidFill>
                <a:latin typeface="Times New Roman"/>
                <a:ea typeface="Times New Roman"/>
                <a:cs typeface="Times New Roman"/>
                <a:sym typeface="Times New Roman"/>
              </a:rPr>
              <a:t>Make sure you have Uploaded following three files into your </a:t>
            </a:r>
            <a:r>
              <a:rPr lang="en-US" sz="1850" b="1" dirty="0" err="1">
                <a:solidFill>
                  <a:srgbClr val="2B3541"/>
                </a:solidFill>
                <a:latin typeface="Times New Roman"/>
                <a:ea typeface="Times New Roman"/>
                <a:cs typeface="Times New Roman"/>
                <a:sym typeface="Times New Roman"/>
              </a:rPr>
              <a:t>github</a:t>
            </a:r>
            <a:r>
              <a:rPr lang="en-US" sz="1850" b="1" dirty="0">
                <a:solidFill>
                  <a:srgbClr val="2B3541"/>
                </a:solidFill>
                <a:latin typeface="Times New Roman"/>
                <a:ea typeface="Times New Roman"/>
                <a:cs typeface="Times New Roman"/>
                <a:sym typeface="Times New Roman"/>
              </a:rPr>
              <a:t> repository  </a:t>
            </a:r>
            <a:br>
              <a:rPr lang="en-US" sz="1850" dirty="0">
                <a:solidFill>
                  <a:srgbClr val="2B3541"/>
                </a:solidFill>
                <a:latin typeface="Times New Roman"/>
                <a:ea typeface="Times New Roman"/>
                <a:cs typeface="Times New Roman"/>
                <a:sym typeface="Times New Roman"/>
              </a:rPr>
            </a:br>
            <a:r>
              <a:rPr lang="en-US" sz="1850" dirty="0">
                <a:solidFill>
                  <a:srgbClr val="2B3541"/>
                </a:solidFill>
                <a:latin typeface="Times New Roman"/>
                <a:ea typeface="Times New Roman"/>
                <a:cs typeface="Times New Roman"/>
                <a:sym typeface="Times New Roman"/>
              </a:rPr>
              <a:t>1) </a:t>
            </a:r>
            <a:r>
              <a:rPr lang="en-US" sz="1850" dirty="0" err="1">
                <a:solidFill>
                  <a:srgbClr val="2B3541"/>
                </a:solidFill>
                <a:latin typeface="Times New Roman"/>
                <a:ea typeface="Times New Roman"/>
                <a:cs typeface="Times New Roman"/>
                <a:sym typeface="Times New Roman"/>
              </a:rPr>
              <a:t>langflow</a:t>
            </a:r>
            <a:r>
              <a:rPr lang="en-US" sz="1850" dirty="0">
                <a:solidFill>
                  <a:srgbClr val="2B3541"/>
                </a:solidFill>
                <a:latin typeface="Times New Roman"/>
                <a:ea typeface="Times New Roman"/>
                <a:cs typeface="Times New Roman"/>
                <a:sym typeface="Times New Roman"/>
              </a:rPr>
              <a:t> </a:t>
            </a:r>
            <a:r>
              <a:rPr lang="en-US" sz="1850" dirty="0" err="1">
                <a:solidFill>
                  <a:srgbClr val="2B3541"/>
                </a:solidFill>
                <a:latin typeface="Times New Roman"/>
                <a:ea typeface="Times New Roman"/>
                <a:cs typeface="Times New Roman"/>
                <a:sym typeface="Times New Roman"/>
              </a:rPr>
              <a:t>json</a:t>
            </a:r>
            <a:r>
              <a:rPr lang="en-US" sz="1850" dirty="0">
                <a:solidFill>
                  <a:srgbClr val="2B3541"/>
                </a:solidFill>
                <a:latin typeface="Times New Roman"/>
                <a:ea typeface="Times New Roman"/>
                <a:cs typeface="Times New Roman"/>
                <a:sym typeface="Times New Roman"/>
              </a:rPr>
              <a:t> file , 2) your_hackthon_problemstatement.pdf file  3) your projectpresntation.pptx file </a:t>
            </a:r>
          </a:p>
          <a:p>
            <a:pPr lvl="0">
              <a:lnSpc>
                <a:spcPct val="162162"/>
              </a:lnSpc>
              <a:buClr>
                <a:srgbClr val="2B3541"/>
              </a:buClr>
              <a:buSzPts val="1850"/>
            </a:pPr>
            <a:endParaRPr lang="en-US" sz="1850" dirty="0">
              <a:solidFill>
                <a:srgbClr val="2B3541"/>
              </a:solidFill>
              <a:latin typeface="Times New Roman"/>
              <a:ea typeface="Times New Roman"/>
              <a:cs typeface="Times New Roman"/>
              <a:sym typeface="Times New Roman"/>
            </a:endParaRPr>
          </a:p>
          <a:p>
            <a:pPr marL="0" marR="0" lvl="0" indent="0" algn="l" rtl="0">
              <a:lnSpc>
                <a:spcPct val="162162"/>
              </a:lnSpc>
              <a:spcBef>
                <a:spcPts val="0"/>
              </a:spcBef>
              <a:spcAft>
                <a:spcPts val="0"/>
              </a:spcAft>
              <a:buClr>
                <a:srgbClr val="2B3541"/>
              </a:buClr>
              <a:buSzPts val="1850"/>
              <a:buFont typeface="Times New Roman"/>
              <a:buNone/>
            </a:pPr>
            <a:endParaRPr lang="en-US" sz="1850" dirty="0">
              <a:solidFill>
                <a:srgbClr val="2B3541"/>
              </a:solidFill>
              <a:latin typeface="Times New Roman"/>
              <a:ea typeface="Times New Roman"/>
              <a:cs typeface="Times New Roman"/>
              <a:sym typeface="Times New Roman"/>
            </a:endParaRPr>
          </a:p>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 </a:t>
            </a: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A4423EF4-BB52-2693-03DD-9F7D92D05218}"/>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FF042814-8077-DBD5-E8B6-E0D870CADB8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6A2761AF-8A54-98F2-52C2-794D9BA61C9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pic>
        <p:nvPicPr>
          <p:cNvPr id="3" name="Picture 2">
            <a:extLst>
              <a:ext uri="{FF2B5EF4-FFF2-40B4-BE49-F238E27FC236}">
                <a16:creationId xmlns:a16="http://schemas.microsoft.com/office/drawing/2014/main" id="{B8925A06-F7F9-F25E-EBB3-1891B33446BF}"/>
              </a:ext>
            </a:extLst>
          </p:cNvPr>
          <p:cNvPicPr>
            <a:picLocks noChangeAspect="1"/>
          </p:cNvPicPr>
          <p:nvPr/>
        </p:nvPicPr>
        <p:blipFill>
          <a:blip r:embed="rId4"/>
          <a:stretch>
            <a:fillRect/>
          </a:stretch>
        </p:blipFill>
        <p:spPr>
          <a:xfrm>
            <a:off x="335797" y="6315517"/>
            <a:ext cx="11520407" cy="310052"/>
          </a:xfrm>
          <a:prstGeom prst="rect">
            <a:avLst/>
          </a:prstGeom>
        </p:spPr>
      </p:pic>
    </p:spTree>
    <p:extLst>
      <p:ext uri="{BB962C8B-B14F-4D97-AF65-F5344CB8AC3E}">
        <p14:creationId xmlns:p14="http://schemas.microsoft.com/office/powerpoint/2010/main" val="211548487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FECD098C-4ECF-993B-66E2-9989F83F62D9}"/>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7BDA5ADF-C9A0-CA5D-844A-6AC3872A0D8C}"/>
              </a:ext>
            </a:extLst>
          </p:cNvPr>
          <p:cNvSpPr/>
          <p:nvPr/>
        </p:nvSpPr>
        <p:spPr>
          <a:xfrm>
            <a:off x="1119870" y="233954"/>
            <a:ext cx="6444496" cy="704017"/>
          </a:xfrm>
          <a:prstGeom prst="rect">
            <a:avLst/>
          </a:prstGeom>
          <a:noFill/>
          <a:ln>
            <a:noFill/>
          </a:ln>
        </p:spPr>
        <p:txBody>
          <a:bodyPr spcFirstLastPara="1" wrap="square" lIns="0" tIns="0" rIns="0" bIns="0" anchor="t" anchorCtr="0">
            <a:noAutofit/>
          </a:bodyPr>
          <a:lstStyle/>
          <a:p>
            <a:pPr>
              <a:lnSpc>
                <a:spcPct val="157142"/>
              </a:lnSpc>
            </a:pPr>
            <a:r>
              <a:rPr lang="en-US" sz="3500" b="1" dirty="0">
                <a:solidFill>
                  <a:srgbClr val="051D3A"/>
                </a:solidFill>
                <a:latin typeface="Times New Roman"/>
                <a:cs typeface="Times New Roman"/>
                <a:sym typeface="Times New Roman"/>
              </a:rPr>
              <a:t>References </a:t>
            </a:r>
            <a:endParaRPr lang="en-US" dirty="0"/>
          </a:p>
        </p:txBody>
      </p:sp>
      <p:sp>
        <p:nvSpPr>
          <p:cNvPr id="279" name="Google Shape;279;p18">
            <a:extLst>
              <a:ext uri="{FF2B5EF4-FFF2-40B4-BE49-F238E27FC236}">
                <a16:creationId xmlns:a16="http://schemas.microsoft.com/office/drawing/2014/main" id="{AF5AFD00-74FD-B439-5973-23933ABD88EC}"/>
              </a:ext>
            </a:extLst>
          </p:cNvPr>
          <p:cNvSpPr/>
          <p:nvPr/>
        </p:nvSpPr>
        <p:spPr>
          <a:xfrm>
            <a:off x="335797" y="1188861"/>
            <a:ext cx="11637899" cy="4549653"/>
          </a:xfrm>
          <a:prstGeom prst="rect">
            <a:avLst/>
          </a:prstGeom>
          <a:noFill/>
          <a:ln>
            <a:noFill/>
          </a:ln>
        </p:spPr>
        <p:txBody>
          <a:bodyPr spcFirstLastPara="1" wrap="square" lIns="0" tIns="0" rIns="0" bIns="0" anchor="t" anchorCtr="0">
            <a:noAutofit/>
          </a:bodyPr>
          <a:lstStyle/>
          <a:p>
            <a:r>
              <a:rPr lang="en-US" sz="2000" b="1" dirty="0" err="1"/>
              <a:t>Langflow</a:t>
            </a:r>
            <a:r>
              <a:rPr lang="en-US" sz="2000" b="1" dirty="0"/>
              <a:t> Documentation</a:t>
            </a:r>
            <a:br>
              <a:rPr lang="en-US" sz="2000" dirty="0"/>
            </a:br>
            <a:r>
              <a:rPr lang="en-US" sz="2000" dirty="0" err="1"/>
              <a:t>Langflow</a:t>
            </a:r>
            <a:r>
              <a:rPr lang="en-US" sz="2000" dirty="0"/>
              <a:t> Contributors. </a:t>
            </a:r>
            <a:r>
              <a:rPr lang="en-US" sz="2000" i="1" dirty="0" err="1"/>
              <a:t>Langflow</a:t>
            </a:r>
            <a:r>
              <a:rPr lang="en-US" sz="2000" i="1" dirty="0"/>
              <a:t>: A Visual Framework for Building LLM Applications</a:t>
            </a:r>
            <a:r>
              <a:rPr lang="en-US" sz="2000" dirty="0"/>
              <a:t>.</a:t>
            </a:r>
            <a:br>
              <a:rPr lang="en-US" sz="2000" dirty="0"/>
            </a:br>
            <a:r>
              <a:rPr lang="en-US" sz="2000" dirty="0">
                <a:hlinkClick r:id="rId3"/>
              </a:rPr>
              <a:t>https://docs.langflow.org/</a:t>
            </a:r>
            <a:endParaRPr lang="en-US" sz="2000" dirty="0"/>
          </a:p>
          <a:p>
            <a:endParaRPr lang="en-US" sz="2000" dirty="0"/>
          </a:p>
          <a:p>
            <a:r>
              <a:rPr lang="en-US" sz="2000" b="1" dirty="0"/>
              <a:t>IBM watsonx.ai Foundation Models</a:t>
            </a:r>
            <a:br>
              <a:rPr lang="en-US" sz="2000" dirty="0"/>
            </a:br>
            <a:r>
              <a:rPr lang="en-US" sz="2000" dirty="0"/>
              <a:t>IBM. </a:t>
            </a:r>
            <a:r>
              <a:rPr lang="en-US" sz="2000" i="1" dirty="0"/>
              <a:t>watsonx.ai: Enterprise AI and Foundation Models</a:t>
            </a:r>
            <a:r>
              <a:rPr lang="en-US" sz="2000" dirty="0"/>
              <a:t>.</a:t>
            </a:r>
            <a:br>
              <a:rPr lang="en-US" sz="2000" dirty="0"/>
            </a:br>
            <a:r>
              <a:rPr lang="en-US" sz="2000" dirty="0">
                <a:hlinkClick r:id="rId4"/>
              </a:rPr>
              <a:t>https://www.ibm.com/products/watsonx-ai</a:t>
            </a:r>
            <a:endParaRPr lang="en-US" sz="2000" dirty="0"/>
          </a:p>
          <a:p>
            <a:endParaRPr lang="en-US" sz="2000" dirty="0"/>
          </a:p>
          <a:p>
            <a:r>
              <a:rPr lang="en-US" sz="2000" b="1" dirty="0" err="1"/>
              <a:t>LangChain</a:t>
            </a:r>
            <a:r>
              <a:rPr lang="en-US" sz="2000" b="1" dirty="0"/>
              <a:t> Framework</a:t>
            </a:r>
            <a:br>
              <a:rPr lang="en-US" sz="2000" dirty="0"/>
            </a:br>
            <a:r>
              <a:rPr lang="en-US" sz="2000" dirty="0" err="1"/>
              <a:t>LangChain</a:t>
            </a:r>
            <a:r>
              <a:rPr lang="en-US" sz="2000" dirty="0"/>
              <a:t>. </a:t>
            </a:r>
            <a:r>
              <a:rPr lang="en-US" sz="2000" i="1" dirty="0" err="1"/>
              <a:t>LangChain</a:t>
            </a:r>
            <a:r>
              <a:rPr lang="en-US" sz="2000" i="1" dirty="0"/>
              <a:t>: Building Applications with LLMs</a:t>
            </a:r>
            <a:r>
              <a:rPr lang="en-US" sz="2000" dirty="0"/>
              <a:t>.</a:t>
            </a:r>
            <a:br>
              <a:rPr lang="en-US" sz="2000" dirty="0"/>
            </a:br>
            <a:r>
              <a:rPr lang="en-US" sz="2000" dirty="0">
                <a:hlinkClick r:id="rId5"/>
              </a:rPr>
              <a:t>https://www.langchain.com/</a:t>
            </a:r>
            <a:endParaRPr lang="en-US" sz="2000" dirty="0"/>
          </a:p>
        </p:txBody>
      </p:sp>
      <p:sp>
        <p:nvSpPr>
          <p:cNvPr id="280" name="Google Shape;280;p18">
            <a:extLst>
              <a:ext uri="{FF2B5EF4-FFF2-40B4-BE49-F238E27FC236}">
                <a16:creationId xmlns:a16="http://schemas.microsoft.com/office/drawing/2014/main" id="{D86E9480-AE0D-8F00-984F-1C0F8F53C1EC}"/>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48F2A10B-67AA-AAE6-232F-CFA602CB53A9}"/>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C95F8CEF-91B5-DD0D-C876-1BFF8ED80FBF}"/>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pic>
        <p:nvPicPr>
          <p:cNvPr id="3" name="Picture 2">
            <a:extLst>
              <a:ext uri="{FF2B5EF4-FFF2-40B4-BE49-F238E27FC236}">
                <a16:creationId xmlns:a16="http://schemas.microsoft.com/office/drawing/2014/main" id="{8760EC5B-78FF-4D99-1A49-A2DD6DB4A362}"/>
              </a:ext>
            </a:extLst>
          </p:cNvPr>
          <p:cNvPicPr>
            <a:picLocks noChangeAspect="1"/>
          </p:cNvPicPr>
          <p:nvPr/>
        </p:nvPicPr>
        <p:blipFill>
          <a:blip r:embed="rId6"/>
          <a:stretch>
            <a:fillRect/>
          </a:stretch>
        </p:blipFill>
        <p:spPr>
          <a:xfrm>
            <a:off x="335797" y="6315517"/>
            <a:ext cx="11520407" cy="310052"/>
          </a:xfrm>
          <a:prstGeom prst="rect">
            <a:avLst/>
          </a:prstGeom>
        </p:spPr>
      </p:pic>
    </p:spTree>
    <p:extLst>
      <p:ext uri="{BB962C8B-B14F-4D97-AF65-F5344CB8AC3E}">
        <p14:creationId xmlns:p14="http://schemas.microsoft.com/office/powerpoint/2010/main" val="20015631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pic>
        <p:nvPicPr>
          <p:cNvPr id="3" name="Picture 2">
            <a:extLst>
              <a:ext uri="{FF2B5EF4-FFF2-40B4-BE49-F238E27FC236}">
                <a16:creationId xmlns:a16="http://schemas.microsoft.com/office/drawing/2014/main" id="{BA9DDD0D-7A91-1E4E-00BA-F7FF05ABF76F}"/>
              </a:ext>
            </a:extLst>
          </p:cNvPr>
          <p:cNvPicPr>
            <a:picLocks noChangeAspect="1"/>
          </p:cNvPicPr>
          <p:nvPr/>
        </p:nvPicPr>
        <p:blipFill>
          <a:blip r:embed="rId4"/>
          <a:stretch>
            <a:fillRect/>
          </a:stretch>
        </p:blipFill>
        <p:spPr>
          <a:xfrm>
            <a:off x="335797" y="6315517"/>
            <a:ext cx="11520407" cy="310052"/>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1482</TotalTime>
  <Words>661</Words>
  <Application>Microsoft Office PowerPoint</Application>
  <PresentationFormat>Widescreen</PresentationFormat>
  <Paragraphs>99</Paragraphs>
  <Slides>19</Slides>
  <Notes>18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Arial</vt:lpstr>
      <vt:lpstr>Calibri</vt:lpstr>
      <vt:lpstr>Times New Roman</vt:lpstr>
      <vt:lpstr>Office Theme</vt:lpstr>
      <vt:lpstr>Agentic AI Hackathon: Building Intelligent Agents with IBM Granite and LangFlow</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DAEWOO SRI PRASAD G</cp:lastModifiedBy>
  <cp:revision>119</cp:revision>
  <dcterms:created xsi:type="dcterms:W3CDTF">2025-07-08T05:06:56Z</dcterms:created>
  <dcterms:modified xsi:type="dcterms:W3CDTF">2026-02-02T07:14:12Z</dcterms:modified>
</cp:coreProperties>
</file>